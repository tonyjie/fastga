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6"/>
    <p:restoredTop sz="89292"/>
  </p:normalViewPr>
  <p:slideViewPr>
    <p:cSldViewPr snapToGrid="0">
      <p:cViewPr varScale="1">
        <p:scale>
          <a:sx n="90" d="100"/>
          <a:sy n="90" d="100"/>
        </p:scale>
        <p:origin x="1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E4144-4A6A-5B42-B074-A2E01C075A6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22B27-61BF-1648-894B-ED5EB725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  <a:uFillTx/>
                <a:latin typeface="Helvetica"/>
                <a:cs typeface="Helvetica"/>
              </a:defRPr>
            </a:lvl1pPr>
          </a:lstStyle>
          <a:p>
            <a:r>
              <a:rPr lang="en-US" dirty="0">
                <a:uFillTx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Helvetica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US">
                <a:uFillTx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6.jp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17457" y="1"/>
            <a:ext cx="12252960" cy="4190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" y="431766"/>
            <a:ext cx="12235503" cy="0"/>
          </a:xfrm>
          <a:prstGeom prst="line">
            <a:avLst/>
          </a:prstGeom>
          <a:ln w="2857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ULogo187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79" y="6106163"/>
            <a:ext cx="2114936" cy="6477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914400" y="538690"/>
            <a:ext cx="10363200" cy="1236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0000"/>
                </a:solidFill>
                <a:uFillTx/>
                <a:latin typeface="Cambria"/>
                <a:ea typeface="+mj-ea"/>
                <a:cs typeface="Cambria"/>
              </a:defRPr>
            </a:lvl1pPr>
          </a:lstStyle>
          <a:p>
            <a:endParaRPr lang="en-US" sz="2400">
              <a:solidFill>
                <a:srgbClr val="FF0000"/>
              </a:solidFill>
              <a:uFillTx/>
              <a:latin typeface="Palatino"/>
              <a:cs typeface="Palatino"/>
            </a:endParaRPr>
          </a:p>
        </p:txBody>
      </p:sp>
      <p:pic>
        <p:nvPicPr>
          <p:cNvPr id="6" name="Picture 5" descr="csllogo_50.png">
            <a:extLst>
              <a:ext uri="{FF2B5EF4-FFF2-40B4-BE49-F238E27FC236}">
                <a16:creationId xmlns:a16="http://schemas.microsoft.com/office/drawing/2014/main" id="{53FB44CC-682D-37DD-1AD9-4AEBBCC5C8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78" y="6290226"/>
            <a:ext cx="948643" cy="43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8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6"/>
            <a:ext cx="2844800" cy="365125"/>
          </a:xfrm>
        </p:spPr>
        <p:txBody>
          <a:bodyPr/>
          <a:lstStyle>
            <a:lvl1pPr algn="r">
              <a:defRPr>
                <a:uFillTx/>
              </a:defRPr>
            </a:lvl1pPr>
          </a:lstStyle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4525963"/>
          </a:xfrm>
        </p:spPr>
        <p:txBody>
          <a:bodyPr>
            <a:normAutofit/>
          </a:bodyPr>
          <a:lstStyle>
            <a:lvl1pPr marL="342900" indent="-342900">
              <a:buFont typeface="Andale Mono"/>
              <a:buChar char="▸"/>
              <a:defRPr sz="2400" b="0" i="0">
                <a:uFillTx/>
                <a:latin typeface="Helvetica" pitchFamily="2" charset="0"/>
                <a:cs typeface="Calibri" panose="020F0502020204030204" pitchFamily="34" charset="0"/>
              </a:defRPr>
            </a:lvl1pPr>
            <a:lvl2pPr>
              <a:defRPr sz="2000" b="0" i="0">
                <a:uFillTx/>
                <a:latin typeface="Helvetica" pitchFamily="2" charset="0"/>
                <a:cs typeface="Calibri" panose="020F0502020204030204" pitchFamily="34" charset="0"/>
              </a:defRPr>
            </a:lvl2pPr>
            <a:lvl3pPr>
              <a:defRPr sz="1800" b="0" i="0">
                <a:uFillTx/>
                <a:latin typeface="Helvetica" pitchFamily="2" charset="0"/>
                <a:cs typeface="Calibri" panose="020F0502020204030204" pitchFamily="34" charset="0"/>
              </a:defRPr>
            </a:lvl3pPr>
            <a:lvl4pPr>
              <a:defRPr sz="1600" b="0" i="0">
                <a:uFillTx/>
                <a:latin typeface="Helvetica" pitchFamily="2" charset="0"/>
                <a:cs typeface="Calibri" panose="020F0502020204030204" pitchFamily="34" charset="0"/>
              </a:defRPr>
            </a:lvl4pPr>
            <a:lvl5pPr>
              <a:defRPr sz="1600" b="0" i="0">
                <a:uFillTx/>
                <a:latin typeface="Helvetica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927" y="23850"/>
            <a:ext cx="10938473" cy="731170"/>
          </a:xfrm>
        </p:spPr>
        <p:txBody>
          <a:bodyPr>
            <a:normAutofit/>
          </a:bodyPr>
          <a:lstStyle>
            <a:lvl1pPr algn="l">
              <a:defRPr lang="en-US" sz="2800" b="1" i="0" kern="1200" dirty="0">
                <a:solidFill>
                  <a:srgbClr val="FF0000"/>
                </a:solidFill>
                <a:uFillTx/>
                <a:latin typeface="Helvetica"/>
                <a:ea typeface="+mn-ea"/>
                <a:cs typeface="Helvetica"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438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2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6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uFillTx/>
              </a:defRPr>
            </a:lvl1pPr>
            <a:lvl2pPr>
              <a:defRPr sz="2800">
                <a:uFillTx/>
              </a:defRPr>
            </a:lvl2pPr>
            <a:lvl3pPr>
              <a:defRPr sz="2400">
                <a:uFillTx/>
              </a:defRPr>
            </a:lvl3pPr>
            <a:lvl4pPr>
              <a:defRPr sz="2000">
                <a:uFillTx/>
              </a:defRPr>
            </a:lvl4pPr>
            <a:lvl5pPr>
              <a:defRPr sz="2000">
                <a:uFillTx/>
              </a:defRPr>
            </a:lvl5pPr>
            <a:lvl6pPr>
              <a:defRPr sz="2000">
                <a:uFillTx/>
              </a:defRPr>
            </a:lvl6pPr>
            <a:lvl7pPr>
              <a:defRPr sz="2000">
                <a:uFillTx/>
              </a:defRPr>
            </a:lvl7pPr>
            <a:lvl8pPr>
              <a:defRPr sz="2000">
                <a:uFillTx/>
              </a:defRPr>
            </a:lvl8pPr>
            <a:lvl9pPr>
              <a:defRPr sz="20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1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>
                <a:uFillTx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2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0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959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fld id="{6200E4C3-34F6-DE45-A4C6-A49633FDB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uFillTx/>
          <a:latin typeface="Helvetica"/>
          <a:ea typeface="+mj-ea"/>
          <a:cs typeface="Helvetic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ndale Mono"/>
        <a:buChar char="▹"/>
        <a:defRPr sz="2400" kern="1200">
          <a:solidFill>
            <a:schemeClr val="tx1"/>
          </a:solidFill>
          <a:uFillTx/>
          <a:latin typeface="Helvetica"/>
          <a:ea typeface="+mn-ea"/>
          <a:cs typeface="Helvetica"/>
        </a:defRPr>
      </a:lvl1pPr>
      <a:lvl2pPr marL="742950" indent="-285750" algn="l" defTabSz="457200" rtl="0" eaLnBrk="1" latinLnBrk="0" hangingPunct="1">
        <a:spcBef>
          <a:spcPct val="20000"/>
        </a:spcBef>
        <a:buSzPct val="80000"/>
        <a:buFont typeface="Arial"/>
        <a:buChar char="–"/>
        <a:defRPr sz="2000" kern="1200">
          <a:solidFill>
            <a:schemeClr val="tx1"/>
          </a:solidFill>
          <a:uFillTx/>
          <a:latin typeface="Helvetica"/>
          <a:ea typeface="+mn-ea"/>
          <a:cs typeface="Helvetica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800" kern="1200">
          <a:solidFill>
            <a:schemeClr val="tx1"/>
          </a:solidFill>
          <a:uFillTx/>
          <a:latin typeface="Helvetica"/>
          <a:ea typeface="+mn-ea"/>
          <a:cs typeface="Helvetica"/>
        </a:defRPr>
      </a:lvl3pPr>
      <a:lvl4pPr marL="1600200" indent="-228600" algn="l" defTabSz="457200" rtl="0" eaLnBrk="1" latinLnBrk="0" hangingPunct="1">
        <a:spcBef>
          <a:spcPct val="20000"/>
        </a:spcBef>
        <a:buSzPct val="90000"/>
        <a:buFont typeface="Arial"/>
        <a:buChar char="–"/>
        <a:defRPr sz="1600" kern="1200">
          <a:solidFill>
            <a:schemeClr val="tx1"/>
          </a:solidFill>
          <a:uFillTx/>
          <a:latin typeface="Helvetica"/>
          <a:ea typeface="+mn-ea"/>
          <a:cs typeface="Helvetica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uFillTx/>
          <a:latin typeface="Helvetica"/>
          <a:ea typeface="+mn-ea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FastGA Deep Dive
&amp; Vibe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Reducing Storage Footprint for Whole-Genome Alignment on HPC
Jiajie Li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600"/>
              <a:t>Introduction to FastGA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0" i="0"/>
              <a:t>Goal: find all local alignments between two genome assemblies</a:t>
            </a:r>
          </a:p>
          <a:p>
            <a:pPr>
              <a:spcAft>
                <a:spcPts val="600"/>
              </a:spcAft>
            </a:pPr>
            <a:r>
              <a:rPr sz="1800" b="0" i="0"/>
              <a:t>Scale: human genomes have ~3 billion base pairs each</a:t>
            </a:r>
          </a:p>
          <a:p>
            <a:pPr>
              <a:spcAft>
                <a:spcPts val="600"/>
              </a:spcAft>
            </a:pPr>
            <a:r>
              <a:rPr sz="1800" b="0" i="0"/>
              <a:t>Existing tools (minimap2, MUMmer) use hash-table lookups for seed finding</a:t>
            </a:r>
          </a:p>
          <a:p>
            <a:pPr>
              <a:spcAft>
                <a:spcPts val="600"/>
              </a:spcAft>
            </a:pPr>
            <a:r>
              <a:rPr sz="1800" b="0" i="0"/>
              <a:t>Hash tables cause random memory access → CPU cache misses</a:t>
            </a:r>
          </a:p>
          <a:p>
            <a:pPr>
              <a:spcAft>
                <a:spcPts val="600"/>
              </a:spcAft>
            </a:pPr>
            <a:r>
              <a:rPr sz="1800" b="0" i="0"/>
              <a:t>At genome scale, the CPU spends most time waiting for RAM (~200 cycles/miss)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Whole-Genome Alignment Is Hard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0" i="0"/>
              <a:t>By Gene Myers, Richard Durbin, and Chenxi Zhou</a:t>
            </a:r>
          </a:p>
          <a:p>
            <a:pPr>
              <a:spcAft>
                <a:spcPts val="600"/>
              </a:spcAft>
            </a:pPr>
            <a:r>
              <a:rPr sz="1800" b="0" i="0"/>
              <a:t>Core principle: replace hash-table lookups with sorted arrays + linear merges</a:t>
            </a:r>
          </a:p>
          <a:p>
            <a:pPr>
              <a:spcAft>
                <a:spcPts val="600"/>
              </a:spcAft>
            </a:pPr>
            <a:r>
              <a:rPr sz="1800" b="0" i="0"/>
              <a:t>Pre-sort all k-mers (K=40) using MSD radix sort (not comparison-based)</a:t>
            </a:r>
          </a:p>
          <a:p>
            <a:pPr>
              <a:spcAft>
                <a:spcPts val="600"/>
              </a:spcAft>
            </a:pPr>
            <a:r>
              <a:rPr sz="1800" b="0" i="0"/>
              <a:t>Find seeds by merging two sorted indices in a single linear sweep</a:t>
            </a:r>
          </a:p>
          <a:p>
            <a:pPr>
              <a:spcAft>
                <a:spcPts val="600"/>
              </a:spcAft>
            </a:pPr>
            <a:r>
              <a:rPr sz="1800" b="0" i="0"/>
              <a:t>Every memory access is sequential and predictable → CPU cache stays warm</a:t>
            </a:r>
          </a:p>
          <a:p>
            <a:pPr>
              <a:spcAft>
                <a:spcPts val="600"/>
              </a:spcAft>
            </a:pPr>
            <a:r>
              <a:rPr sz="1800" b="0" i="0"/>
              <a:t>Compact output: .1aln trace-point format is 15–16× smaller than PAF+CIGAR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FastGA: Cache Coherence Over Hash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600"/>
              <a:t>FastGA's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0" i="0"/>
              <a:t>Stage 1: Compress — FASTA → GDB (2-bit packed DNA)</a:t>
            </a:r>
          </a:p>
          <a:p>
            <a:pPr lvl="1">
              <a:spcAft>
                <a:spcPts val="400"/>
              </a:spcAft>
            </a:pPr>
            <a:r>
              <a:rPr sz="1600" b="0" i="0"/>
              <a:t>• 4 bases per byte. ~750 MB for a human genome (vs ~3 GB FASTA)</a:t>
            </a:r>
          </a:p>
          <a:p>
            <a:pPr>
              <a:spcAft>
                <a:spcPts val="600"/>
              </a:spcAft>
            </a:pPr>
            <a:r>
              <a:rPr sz="1800" b="0" i="0"/>
              <a:t>Stage 2: Index — GDB → GIX (sorted k-mer index, syncmer-filtered)</a:t>
            </a:r>
          </a:p>
          <a:p>
            <a:pPr lvl="1">
              <a:spcAft>
                <a:spcPts val="400"/>
              </a:spcAft>
            </a:pPr>
            <a:r>
              <a:rPr sz="1600" b="0" i="0"/>
              <a:t>• ~10 GB/Gbp. 15 bytes/entry: 7B suffix + 1B mask + 1B LCP + 4B pos + 2B contig</a:t>
            </a:r>
          </a:p>
          <a:p>
            <a:pPr>
              <a:spcAft>
                <a:spcPts val="600"/>
              </a:spcAft>
            </a:pPr>
            <a:r>
              <a:rPr sz="1800" b="0" i="0"/>
              <a:t>Stage 3: Seed Merge — linear merge of two sorted GIX indices</a:t>
            </a:r>
          </a:p>
          <a:p>
            <a:pPr lvl="1">
              <a:spcAft>
                <a:spcPts val="400"/>
              </a:spcAft>
            </a:pPr>
            <a:r>
              <a:rPr sz="1600" b="0" i="0"/>
              <a:t>• Longest prefix match + frequency filter (≤ 10 occurrences)</a:t>
            </a:r>
          </a:p>
          <a:p>
            <a:pPr>
              <a:spcAft>
                <a:spcPts val="600"/>
              </a:spcAft>
            </a:pPr>
            <a:r>
              <a:rPr sz="1800" b="0" i="0"/>
              <a:t>Stage 4: Sort, Chain, Align — radix sort seeds → chain → wave-front alignment</a:t>
            </a:r>
          </a:p>
          <a:p>
            <a:pPr lvl="1">
              <a:spcAft>
                <a:spcPts val="400"/>
              </a:spcAft>
            </a:pPr>
            <a:r>
              <a:rPr sz="1600" b="0" i="0"/>
              <a:t>• O(nd) wave-front algorithm within diagonal band defined by chain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4-Stage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Sub-Phases &amp; Output 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371600"/>
          <a:ext cx="1003096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93"/>
                <a:gridCol w="2006193"/>
                <a:gridCol w="2006193"/>
                <a:gridCol w="2006193"/>
                <a:gridCol w="200619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Sub-phase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Output files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Threading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Compress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FAtoGDB (×2)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FASTA → 2-bit packed binary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.1gdb + .bps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Single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Index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GIXmake (×2)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Syncmer k-mers → MSD radix sort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.gix + .ktab.*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Multi (max 32)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Merge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FastGA ph.1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Linear merge of two sorted GIX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_pair.*.N/.C (temp)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Multi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 + Align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FastGA ph.2–4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Radix sort → chain → align → merge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.1aln (final output)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Multi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Convert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ALNtoPAF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Decode trace points → PAF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PAF to stdout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Single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4114800"/>
          <a:ext cx="1003096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93"/>
                <a:gridCol w="2006193"/>
                <a:gridCol w="2006193"/>
                <a:gridCol w="2006193"/>
                <a:gridCol w="200619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Size (human, per genome)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Created by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Read by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Deleted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.1gdb + .bps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~750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FAtoGDB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FastGA (base fetching)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At exit (-k keeps)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.gix + .ktab.*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~32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GIXmake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FastGA (seed merge only)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At exit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_pair.* (temp)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~3.5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merge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Sort+align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Unlinked after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.1aln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157 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Sort+align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ALNtoPAF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Persistent 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Data Structures &amp; File Sizes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63040"/>
          <a:ext cx="100309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742"/>
                <a:gridCol w="2507742"/>
                <a:gridCol w="2507742"/>
                <a:gridCol w="25077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Size Scaling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Lifetime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GDB (.1gdb + .bps)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2-bit compressed DNA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~0.25 GB/Gbp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Entire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 (.gix + .ktab.*)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Sorted k-mer index + LCP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~10 GB/Gbp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merge 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_pair.* (temp)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position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~2.3 GB/Gbp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Sort+align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.1aln (output)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Trace-point alignments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~0.05 GB/Gbp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Persistent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" y="3840480"/>
            <a:ext cx="10030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33333"/>
                </a:solidFill>
              </a:rPr>
              <a:t>GIX dominates storage: 62.7 GB for two human genomes (88% of peak disk). Temp files are invisible to ls (unlinked immediately after open).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600"/>
              <a:t>Benchmark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Genome Performance (GRCh38 vs CHM13, T=32)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6304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Wall clock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9 min 48s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Peak RSS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19.0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Total seeds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1.3 billion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Non-redundant alignments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518,037 (avg 28.4 Kbp)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CPU utilization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638% (of 3200%)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46304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Wall Time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GDB creation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 build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82s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merge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5.3s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Sort + align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482s (8 min)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82%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4846320"/>
            <a:ext cx="10030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33333"/>
                </a:solidFill>
              </a:rPr>
              <a:t>Sort+align dominates at human scale (82% of runtime). Seed merge is extremely fast (5.3s) thanks to the cache-coherent linear sweep.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 b="0" i="0"/>
              <a:t>Peak disk usage: 71 GB for one human-vs-human comparison</a:t>
            </a:r>
          </a:p>
          <a:p>
            <a:pPr>
              <a:spcAft>
                <a:spcPts val="600"/>
              </a:spcAft>
            </a:pPr>
            <a:r>
              <a:rPr sz="1800" b="0" i="0"/>
              <a:t>GIX indices: 62.7 GB = 88% of peak storage</a:t>
            </a:r>
          </a:p>
          <a:p>
            <a:pPr>
              <a:spcAft>
                <a:spcPts val="600"/>
              </a:spcAft>
            </a:pPr>
            <a:r>
              <a:rPr sz="1800" b="0" i="0"/>
              <a:t>GIX is only read during the 5.3-second seed merge phase</a:t>
            </a:r>
          </a:p>
          <a:p>
            <a:pPr>
              <a:spcAft>
                <a:spcPts val="600"/>
              </a:spcAft>
            </a:pPr>
            <a:r>
              <a:rPr sz="1800" b="0" i="0"/>
              <a:t>But GIX stays on disk through the entire 8-minute sort+align phase</a:t>
            </a:r>
          </a:p>
          <a:p>
            <a:pPr>
              <a:spcAft>
                <a:spcPts val="600"/>
              </a:spcAft>
            </a:pPr>
            <a:r>
              <a:rPr sz="1800" b="0" i="0"/>
              <a:t>Two concurrent runs on one HPC node: 142 GB of scratch needed</a:t>
            </a:r>
          </a:p>
          <a:p>
            <a:pPr>
              <a:spcAft>
                <a:spcPts val="600"/>
              </a:spcAft>
            </a:pPr>
            <a:r>
              <a:rPr sz="1800" b="0" i="0"/>
              <a:t>Key insight: 88% of storage is held for 98% of runtime unnecessarily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Storage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Tradeoff: minimap2 vs FastGA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371600"/>
          <a:ext cx="1003096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656"/>
                <a:gridCol w="3343656"/>
                <a:gridCol w="3343656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minimap2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FastGA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Index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Hash table (minimizers)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Sorted k-mer table + LCP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Index size (human)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~6–8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~32 GB/genome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Index 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In 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On disk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Seed finding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Hash lookup (random access)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Linear merge (sequential)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Match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Fixed k-mer length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Variable-length (adaptamers)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Cache behavior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Cache misses on every lookup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Cache-friendly sequential scan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Reusable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No (rebuilt each run)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Yes (-k flag)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Output format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PAF (text)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.1aln trace-points (15–16× smaller)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" y="5303520"/>
            <a:ext cx="10030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33333"/>
                </a:solidFill>
              </a:rPr>
              <a:t>FastGA trades ~4× larger index for cache-coherent seed finding and free variable-length matching. The extra bytes (k-mer suffix + LCP) are the structural cost of the sorted-merge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Inside the 63 GB GIX? (Human, Both Genomes)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371600"/>
          <a:ext cx="10030965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93"/>
                <a:gridCol w="2006193"/>
                <a:gridCol w="2006193"/>
                <a:gridCol w="2006193"/>
                <a:gridCol w="2006193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Bytes/entry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Total (GB)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% of GIX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K-mer suffix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~32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Sorted DNA sequence for merge comparison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Position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~18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29%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Where in the contig this k-mer starts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Contig+Strand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2 or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~7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Which contig, which strand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Mask byte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~5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Soft-masking (always 0 when off — waste)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LCP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~5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Longest common prefix with previous 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Prefix tables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0.3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&lt;1%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Two 128 MB jump tables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" y="4937760"/>
            <a:ext cx="10030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33333"/>
                </a:solidFill>
              </a:rPr>
              <a:t>K-mer suffix + Position = 81% of GIX — fundamentally required by the algorithm. Optimization targets: mask byte (removed in Opt 3, −4.6 GB), LCP (could recompute on-the-fly), k-mer suffix (hard to compress — Opt 5 failed).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Timeline: Human Genomes (T=32)</a:t>
            </a:r>
          </a:p>
        </p:txBody>
      </p:sp>
      <p:pic>
        <p:nvPicPr>
          <p:cNvPr id="3" name="Picture 2" descr="storage_timeline_human_T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63" y="1280160"/>
            <a:ext cx="10030968" cy="42577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600"/>
              <a:t>Storage Optimization Attempts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Identified Optimization Opportunities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63040"/>
          <a:ext cx="1003096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93"/>
                <a:gridCol w="2006193"/>
                <a:gridCol w="2006193"/>
                <a:gridCol w="2006193"/>
                <a:gridCol w="2006193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Est. Impact (Human)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Early GIX deletion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Frees 63 GB in sort+align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Bit-exact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Sparse prefix index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~254 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Bit-exact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Eliminate mask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-4.6 GB (-7.7% ktab)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Bit-exact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On-the-fly LCP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~4.4 GB (~7% ktab)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Bit-exact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Deferred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Ktab compression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~14% ktab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Bit-exact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❌ 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Aggressive syncmer filter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~40% ktab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Trade-off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ext cx="0" cy="2560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1800" b="0" i="0"/>
              <a:t>Delete GIX immediately after seed merge, not at program exit</a:t>
            </a:r>
          </a:p>
          <a:p>
            <a:pPr>
              <a:spcAft>
                <a:spcPts val="600"/>
              </a:spcAft>
            </a:pPr>
            <a:r>
              <a:rPr sz="1800" b="0" i="0"/>
              <a:t>Sort+align disk: 64 GB → 7 GB (–89%)</a:t>
            </a:r>
          </a:p>
          <a:p>
            <a:pPr>
              <a:spcAft>
                <a:spcPts val="600"/>
              </a:spcAft>
            </a:pPr>
            <a:r>
              <a:rPr sz="1800" b="0" i="0"/>
              <a:t>Two concurrent human runs: 128 GB → 14 GB</a:t>
            </a:r>
          </a:p>
          <a:p>
            <a:pPr>
              <a:spcAft>
                <a:spcPts val="600"/>
              </a:spcAft>
            </a:pPr>
            <a:r>
              <a:rPr sz="1800" b="0" i="0"/>
              <a:t>Zero performance impact, bit-exact output</a:t>
            </a:r>
          </a:p>
          <a:p>
            <a:pPr>
              <a:spcAft>
                <a:spcPts val="600"/>
              </a:spcAft>
            </a:pPr>
            <a:r>
              <a:rPr sz="1800" b="0" i="0"/>
              <a:t>Only ~35 lines changed in FastGA.c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 1: Early GIX Deletion (Zero Cost)</a:t>
            </a:r>
          </a:p>
        </p:txBody>
      </p:sp>
      <p:pic>
        <p:nvPicPr>
          <p:cNvPr id="4" name="Picture 3" descr="storage_timeline_early_g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448" y="3566160"/>
            <a:ext cx="410479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 3: Eliminate Mask Byte  |  Opt 5: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2A4A"/>
                </a:solidFill>
              </a:rPr>
              <a:t>Opt 3: Eliminate Mask Byte </a:t>
            </a:r>
            <a:r>
              <a:rPr sz="1600" b="0" i="0">
                <a:solidFill>
                  <a:srgbClr val="228B22"/>
                </a:solidFill>
              </a:rPr>
              <a:t>✅ Implemented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Remove unused 1-byte mask field from ktab entries (15B → 14B)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Result: 7.7% ktab reduction, bit-exact output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Human genomes: −4.6 GB total GIX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2A4A"/>
                </a:solidFill>
              </a:rPr>
              <a:t>Opt 5: Ktab Compression </a:t>
            </a:r>
            <a:r>
              <a:rPr sz="1600" b="0" i="0">
                <a:solidFill>
                  <a:srgbClr val="CC0000"/>
                </a:solidFill>
              </a:rPr>
              <a:t>❌ Failed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Attempted zstd block compression of ktab partitions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Only 14% compression (position data nearly random)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Decompression round-trip bug: 53.6M vs 51.1M seeds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All code reverted — adds dependency for modest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4389120"/>
            <a:ext cx="100309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33333"/>
                </a:solidFill>
              </a:rPr>
              <a:t>Lesson: Not all optimizations work out. The position payload in ktab entries contains coordinate data that is effectively random — compression algorithms can't exploit patterns that don't exist.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Cumulative Results: Opt 1 + Opt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63040"/>
          <a:ext cx="100309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742"/>
                <a:gridCol w="2507742"/>
                <a:gridCol w="2507742"/>
                <a:gridCol w="25077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Opt 1+3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Savings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 size (human, both)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62.7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58.1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-4.6 GB (-7.3%)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Peak total disk (human)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71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66.4 GB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-4.6 GB (-6.5%)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Sort+align disk (human)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64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7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-57 GB (-89%)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GIX size (EXAMPLE, both)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1,864 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1,740 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-124 MB (-6.6%)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Sort+align disk (EXAMPLE)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1,905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438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-1,467 MB (-77%)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storage_timeline_opt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61" y="3931920"/>
            <a:ext cx="2881773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3600"/>
              <a:t>Reflections &amp; Next Steps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i="0"/>
              <a:t>What we did: removed low-hanging fruit</a:t>
            </a:r>
          </a:p>
          <a:p>
            <a:pPr>
              <a:spcAft>
                <a:spcPts val="600"/>
              </a:spcAft>
            </a:pPr>
            <a:r>
              <a:rPr sz="1700" b="0" i="0"/>
              <a:t>Opt 1: moved a delete() call earlier — trivial code change, huge practical impact</a:t>
            </a:r>
          </a:p>
          <a:p>
            <a:pPr>
              <a:spcAft>
                <a:spcPts val="600"/>
              </a:spcAft>
            </a:pPr>
            <a:r>
              <a:rPr sz="1700" b="0" i="0"/>
              <a:t>Opt 2: changed KBYTES+1 to KBYTES when masking is off — one line of logic</a:t>
            </a:r>
          </a:p>
          <a:p>
            <a:pPr>
              <a:spcAft>
                <a:spcPts val="600"/>
              </a:spcAft>
            </a:pPr>
            <a:r>
              <a:rPr sz="1700" b="0" i="0"/>
              <a:t>Both are bit-exact, zero performance cost, zero risk</a:t>
            </a:r>
          </a:p>
          <a:p>
            <a:pPr>
              <a:spcBef>
                <a:spcPts val="1600"/>
              </a:spcBef>
            </a:pPr>
            <a:r>
              <a:rPr sz="2000" b="1" i="0"/>
              <a:t>Honest assessment</a:t>
            </a:r>
          </a:p>
          <a:p>
            <a:pPr>
              <a:spcAft>
                <a:spcPts val="600"/>
              </a:spcAft>
            </a:pPr>
            <a:r>
              <a:rPr sz="1700" b="0" i="0"/>
              <a:t>These optimizations are trivial — we found waste and removed it</a:t>
            </a:r>
          </a:p>
          <a:p>
            <a:pPr>
              <a:spcAft>
                <a:spcPts val="600"/>
              </a:spcAft>
            </a:pPr>
            <a:r>
              <a:rPr sz="1700" b="0" i="0"/>
              <a:t>We didn’t make any fundamental algorithmic tradeoffs</a:t>
            </a:r>
          </a:p>
          <a:p>
            <a:pPr>
              <a:spcAft>
                <a:spcPts val="600"/>
              </a:spcAft>
            </a:pPr>
            <a:r>
              <a:rPr sz="1700" b="0" i="0"/>
              <a:t>Our one non-trivial attempt (ktab compression) failed</a:t>
            </a:r>
          </a:p>
          <a:p>
            <a:pPr>
              <a:spcAft>
                <a:spcPts val="600"/>
              </a:spcAft>
            </a:pPr>
            <a:r>
              <a:rPr sz="1700" b="0" i="0"/>
              <a:t>The real optimization space — trading sensitivity, compute, or quality for storage — remains unexplored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Reflections: What We Actually Did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 b="1" i="0"/>
              <a:t>Sensitivity ↔ Storage</a:t>
            </a:r>
          </a:p>
          <a:p>
            <a:pPr lvl="1">
              <a:spcAft>
                <a:spcPts val="400"/>
              </a:spcAft>
            </a:pPr>
            <a:r>
              <a:rPr sz="1600" b="0" i="0"/>
              <a:t>Aggressive syncmer filtering: select ~40% instead of ~75% of positions → ~40% smaller GIX</a:t>
            </a:r>
          </a:p>
          <a:p>
            <a:pPr lvl="1">
              <a:spcAft>
                <a:spcPts val="400"/>
              </a:spcAft>
            </a:pPr>
            <a:r>
              <a:rPr sz="1600" b="0" i="0"/>
              <a:t>Tune frequency threshold (-f): higher = fewer seeds = less temp storage, but miss repeat-flanking matches</a:t>
            </a:r>
          </a:p>
          <a:p>
            <a:pPr>
              <a:spcBef>
                <a:spcPts val="1200"/>
              </a:spcBef>
            </a:pPr>
            <a:r>
              <a:rPr sz="1900" b="1" i="0"/>
              <a:t>Compute ↔ Storage</a:t>
            </a:r>
          </a:p>
          <a:p>
            <a:pPr lvl="1">
              <a:spcAft>
                <a:spcPts val="400"/>
              </a:spcAft>
            </a:pPr>
            <a:r>
              <a:rPr sz="1600" b="0" i="0"/>
              <a:t>On-the-fly LCP: recompute during merge instead of storing (~7% GIX reduction, adds CPU cost)</a:t>
            </a:r>
          </a:p>
          <a:p>
            <a:pPr lvl="1">
              <a:spcAft>
                <a:spcPts val="400"/>
              </a:spcAft>
            </a:pPr>
            <a:r>
              <a:rPr sz="1600" b="0" i="0"/>
              <a:t>Streaming seed consumption: chain and align seeds as they’re produced, avoid materializing all at once</a:t>
            </a:r>
          </a:p>
          <a:p>
            <a:pPr>
              <a:spcBef>
                <a:spcPts val="1200"/>
              </a:spcBef>
            </a:pPr>
            <a:r>
              <a:rPr sz="1900" b="1" i="0"/>
              <a:t>Toward autonomous optimization</a:t>
            </a:r>
          </a:p>
          <a:p>
            <a:pPr lvl="1">
              <a:spcAft>
                <a:spcPts val="400"/>
              </a:spcAft>
            </a:pPr>
            <a:r>
              <a:rPr sz="1600" b="0" i="0"/>
              <a:t>Define clear objectives: storage budget, sensitivity floor, runtime ceiling</a:t>
            </a:r>
          </a:p>
          <a:p>
            <a:pPr lvl="1">
              <a:spcAft>
                <a:spcPts val="400"/>
              </a:spcAft>
            </a:pPr>
            <a:r>
              <a:rPr sz="1600" b="0" i="0"/>
              <a:t>Let an AI agent explore the parameter/design space systematically</a:t>
            </a:r>
          </a:p>
          <a:p>
            <a:pPr lvl="1">
              <a:spcAft>
                <a:spcPts val="400"/>
              </a:spcAft>
            </a:pPr>
            <a:r>
              <a:rPr sz="1600" b="0" i="0"/>
              <a:t>Auto-benchmark, auto-evaluate, auto-iterate — à la Karpathy’s AutoResearch vision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Exploring the Tradeoff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ang-heterocl-030218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nesis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miter lim="800000"/>
        </a:ln>
        <a:effectLst/>
      </a:spPr>
      <a:bodyPr wrap="square" rtlCol="0" anchor="ctr">
        <a:spAutoFit/>
      </a:bodyPr>
      <a:lstStyle>
        <a:defPPr algn="ctr">
          <a:defRPr>
            <a:uFillTx/>
          </a:defRPr>
        </a:defPPr>
      </a:lstStyle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uFillTx/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1461</Words>
  <Application>Microsoft Macintosh PowerPoint</Application>
  <PresentationFormat>Widescreen</PresentationFormat>
  <Paragraphs>191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Andale Mono</vt:lpstr>
      <vt:lpstr>Aptos</vt:lpstr>
      <vt:lpstr>Arial</vt:lpstr>
      <vt:lpstr>Calibri</vt:lpstr>
      <vt:lpstr>Calisto MT</vt:lpstr>
      <vt:lpstr>Helvetica</vt:lpstr>
      <vt:lpstr>Palatino</vt:lpstr>
      <vt:lpstr>zhang-heterocl-030218</vt:lpstr>
      <vt:lpstr>GPU Accelerated Sequence Alignment with Triton</vt:lpstr>
      <vt:lpstr>Sequence Alignment is the Cornerstone of Bioinformatics</vt:lpstr>
      <vt:lpstr>Tasks Related to Sequence Alignment</vt:lpstr>
      <vt:lpstr>Each Aligner is a Pipeline</vt:lpstr>
      <vt:lpstr>Different DP Kernel Variants are Used</vt:lpstr>
      <vt:lpstr>Triton: write Python to get optimized GPU kernel for ML Ops</vt:lpstr>
      <vt:lpstr>Triton for Sequence Alignment Kernels?</vt:lpstr>
      <vt:lpstr>Guided DP: Extending Alignment in Minimap2</vt:lpstr>
      <vt:lpstr>GPU SOTA: AGATHA</vt:lpstr>
      <vt:lpstr>AGATHA: Challenges</vt:lpstr>
      <vt:lpstr>AGATHA: Optimization</vt:lpstr>
      <vt:lpstr>Triton kernel for guided DP</vt:lpstr>
      <vt:lpstr>Result: Performance &amp; Programming Effort</vt:lpstr>
      <vt:lpstr>Result: on a larger &amp; imbalanced dataset</vt:lpstr>
      <vt:lpstr>PTX hack to use shared memory instead of global memory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Jiajie Li</dc:creator>
  <cp:lastModifiedBy>Jiajie Li</cp:lastModifiedBy>
  <cp:revision>92</cp:revision>
  <dcterms:created xsi:type="dcterms:W3CDTF">2025-10-08T16:23:55Z</dcterms:created>
  <dcterms:modified xsi:type="dcterms:W3CDTF">2025-10-22T17:35:24Z</dcterms:modified>
</cp:coreProperties>
</file>