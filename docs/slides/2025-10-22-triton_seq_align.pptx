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1821" r:id="rId2"/>
    <p:sldId id="1817" r:id="rId3"/>
    <p:sldId id="1841" r:id="rId4"/>
    <p:sldId id="1844" r:id="rId5"/>
    <p:sldId id="1843" r:id="rId6"/>
    <p:sldId id="1819" r:id="rId7"/>
    <p:sldId id="1826" r:id="rId8"/>
    <p:sldId id="1845" r:id="rId9"/>
    <p:sldId id="1827" r:id="rId10"/>
    <p:sldId id="1846" r:id="rId11"/>
    <p:sldId id="1847" r:id="rId12"/>
    <p:sldId id="1848" r:id="rId13"/>
    <p:sldId id="1833" r:id="rId14"/>
    <p:sldId id="1852" r:id="rId15"/>
    <p:sldId id="1849" r:id="rId16"/>
    <p:sldId id="185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46"/>
    <p:restoredTop sz="89292"/>
  </p:normalViewPr>
  <p:slideViewPr>
    <p:cSldViewPr snapToGrid="0">
      <p:cViewPr varScale="1">
        <p:scale>
          <a:sx n="90" d="100"/>
          <a:sy n="90" d="100"/>
        </p:scale>
        <p:origin x="13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E4144-4A6A-5B42-B074-A2E01C075A69}" type="datetimeFigureOut">
              <a:rPr lang="en-US" smtClean="0"/>
              <a:t>10/21/25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22B27-61BF-1648-894B-ED5EB7257E5F}" type="slidenum">
              <a:rPr lang="en-US" smtClean="0"/>
              <a:t>‹#›</a:t>
            </a:fld>
            <a:endParaRPr lang="en-US"/>
          </a:p>
        </p:txBody>
      </p:sp>
    </p:spTree>
    <p:extLst>
      <p:ext uri="{BB962C8B-B14F-4D97-AF65-F5344CB8AC3E}">
        <p14:creationId xmlns:p14="http://schemas.microsoft.com/office/powerpoint/2010/main" val="235366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615EC-A31B-1D3B-884D-6FF183DE9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6E3213-7A96-0670-7A5F-A1B50A2C32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FBF6A2-5D44-9DA2-D342-084C211EC0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FECE91-3A1E-354C-2AC6-A9314CDF11D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1F55C64-C9CE-8D46-A0F1-19EB240849D3}" type="slidenum">
              <a:rPr kumimoji="0" lang="en-CA"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3497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(green/red</a:t>
            </a:r>
            <a:r>
              <a:rPr lang="zh-CN" altLang="en-US" dirty="0"/>
              <a:t> </a:t>
            </a:r>
            <a:r>
              <a:rPr lang="en-US" altLang="zh-CN" dirty="0"/>
              <a:t>+/-)</a:t>
            </a:r>
          </a:p>
          <a:p>
            <a:r>
              <a:rPr lang="en-US" altLang="zh-CN" dirty="0"/>
              <a:t>Good</a:t>
            </a:r>
            <a:r>
              <a:rPr lang="zh-CN" altLang="en-US" dirty="0"/>
              <a:t> </a:t>
            </a:r>
            <a:r>
              <a:rPr lang="en-US" altLang="zh-CN" dirty="0"/>
              <a:t>or</a:t>
            </a:r>
            <a:r>
              <a:rPr lang="zh-CN" altLang="en-US" dirty="0"/>
              <a:t> </a:t>
            </a:r>
            <a:r>
              <a:rPr lang="en-US" altLang="zh-CN" dirty="0"/>
              <a:t>bad</a:t>
            </a:r>
            <a:endParaRPr lang="en-US" dirty="0"/>
          </a:p>
        </p:txBody>
      </p:sp>
      <p:sp>
        <p:nvSpPr>
          <p:cNvPr id="4" name="Slide Number Placeholder 3"/>
          <p:cNvSpPr>
            <a:spLocks noGrp="1"/>
          </p:cNvSpPr>
          <p:nvPr>
            <p:ph type="sldNum" sz="quarter" idx="5"/>
          </p:nvPr>
        </p:nvSpPr>
        <p:spPr/>
        <p:txBody>
          <a:bodyPr/>
          <a:lstStyle/>
          <a:p>
            <a:fld id="{01222B27-61BF-1648-894B-ED5EB7257E5F}" type="slidenum">
              <a:rPr lang="en-US" smtClean="0"/>
              <a:t>13</a:t>
            </a:fld>
            <a:endParaRPr lang="en-US"/>
          </a:p>
        </p:txBody>
      </p:sp>
    </p:spTree>
    <p:extLst>
      <p:ext uri="{BB962C8B-B14F-4D97-AF65-F5344CB8AC3E}">
        <p14:creationId xmlns:p14="http://schemas.microsoft.com/office/powerpoint/2010/main" val="443531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normAutofit/>
          </a:bodyPr>
          <a:lstStyle>
            <a:lvl1pPr>
              <a:defRPr sz="3200">
                <a:solidFill>
                  <a:srgbClr val="000000"/>
                </a:solidFill>
                <a:uFillTx/>
                <a:latin typeface="Helvetica"/>
                <a:cs typeface="Helvetica"/>
              </a:defRPr>
            </a:lvl1pPr>
          </a:lstStyle>
          <a:p>
            <a:r>
              <a:rPr lang="en-US" dirty="0">
                <a:uFillTx/>
              </a:rPr>
              <a:t>Click to edit Master title style</a:t>
            </a:r>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a:solidFill>
                  <a:schemeClr val="tx1">
                    <a:lumMod val="75000"/>
                    <a:lumOff val="25000"/>
                  </a:schemeClr>
                </a:solidFill>
                <a:uFillTx/>
                <a:latin typeface="Helvetica"/>
                <a:cs typeface="Helvetica"/>
              </a:defRPr>
            </a:lvl1pPr>
            <a:lvl2pPr marL="457200" indent="0" algn="ctr">
              <a:buNone/>
              <a:defRPr>
                <a:solidFill>
                  <a:schemeClr val="tx1">
                    <a:tint val="75000"/>
                  </a:schemeClr>
                </a:solidFill>
                <a:uFillTx/>
              </a:defRPr>
            </a:lvl2pPr>
            <a:lvl3pPr marL="914400" indent="0" algn="ctr">
              <a:buNone/>
              <a:defRPr>
                <a:solidFill>
                  <a:schemeClr val="tx1">
                    <a:tint val="75000"/>
                  </a:schemeClr>
                </a:solidFill>
                <a:uFillTx/>
              </a:defRPr>
            </a:lvl3pPr>
            <a:lvl4pPr marL="1371600" indent="0" algn="ctr">
              <a:buNone/>
              <a:defRPr>
                <a:solidFill>
                  <a:schemeClr val="tx1">
                    <a:tint val="75000"/>
                  </a:schemeClr>
                </a:solidFill>
                <a:uFillTx/>
              </a:defRPr>
            </a:lvl4pPr>
            <a:lvl5pPr marL="1828800" indent="0" algn="ctr">
              <a:buNone/>
              <a:defRPr>
                <a:solidFill>
                  <a:schemeClr val="tx1">
                    <a:tint val="75000"/>
                  </a:schemeClr>
                </a:solidFill>
                <a:uFillTx/>
              </a:defRPr>
            </a:lvl5pPr>
            <a:lvl6pPr marL="2286000" indent="0" algn="ctr">
              <a:buNone/>
              <a:defRPr>
                <a:solidFill>
                  <a:schemeClr val="tx1">
                    <a:tint val="75000"/>
                  </a:schemeClr>
                </a:solidFill>
                <a:uFillTx/>
              </a:defRPr>
            </a:lvl6pPr>
            <a:lvl7pPr marL="2743200" indent="0" algn="ctr">
              <a:buNone/>
              <a:defRPr>
                <a:solidFill>
                  <a:schemeClr val="tx1">
                    <a:tint val="75000"/>
                  </a:schemeClr>
                </a:solidFill>
                <a:uFillTx/>
              </a:defRPr>
            </a:lvl7pPr>
            <a:lvl8pPr marL="3200400" indent="0" algn="ctr">
              <a:buNone/>
              <a:defRPr>
                <a:solidFill>
                  <a:schemeClr val="tx1">
                    <a:tint val="75000"/>
                  </a:schemeClr>
                </a:solidFill>
                <a:uFillTx/>
              </a:defRPr>
            </a:lvl8pPr>
            <a:lvl9pPr marL="3657600" indent="0" algn="ctr">
              <a:buNone/>
              <a:defRPr>
                <a:solidFill>
                  <a:schemeClr val="tx1">
                    <a:tint val="75000"/>
                  </a:schemeClr>
                </a:solidFill>
                <a:uFillTx/>
              </a:defRPr>
            </a:lvl9pPr>
          </a:lstStyle>
          <a:p>
            <a:r>
              <a:rPr lang="en-US">
                <a:uFillTx/>
              </a:rPr>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pic>
        <p:nvPicPr>
          <p:cNvPr id="7" name="Picture 6" descr="6.jpg"/>
          <p:cNvPicPr>
            <a:picLocks/>
          </p:cNvPicPr>
          <p:nvPr/>
        </p:nvPicPr>
        <p:blipFill>
          <a:blip r:embed="rId2"/>
          <a:stretch>
            <a:fillRect/>
          </a:stretch>
        </p:blipFill>
        <p:spPr>
          <a:xfrm>
            <a:off x="-17457" y="1"/>
            <a:ext cx="12252960" cy="419009"/>
          </a:xfrm>
          <a:prstGeom prst="rect">
            <a:avLst/>
          </a:prstGeom>
        </p:spPr>
      </p:pic>
      <p:cxnSp>
        <p:nvCxnSpPr>
          <p:cNvPr id="8" name="Straight Connector 7"/>
          <p:cNvCxnSpPr/>
          <p:nvPr/>
        </p:nvCxnSpPr>
        <p:spPr>
          <a:xfrm>
            <a:off x="1" y="431766"/>
            <a:ext cx="12235503" cy="0"/>
          </a:xfrm>
          <a:prstGeom prst="line">
            <a:avLst/>
          </a:prstGeom>
          <a:ln w="28575" cmpd="sng">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CULogo187.eps"/>
          <p:cNvPicPr>
            <a:picLocks noChangeAspect="1"/>
          </p:cNvPicPr>
          <p:nvPr/>
        </p:nvPicPr>
        <p:blipFill>
          <a:blip r:embed="rId3"/>
          <a:stretch>
            <a:fillRect/>
          </a:stretch>
        </p:blipFill>
        <p:spPr>
          <a:xfrm>
            <a:off x="145379" y="6106163"/>
            <a:ext cx="2114936" cy="647790"/>
          </a:xfrm>
          <a:prstGeom prst="rect">
            <a:avLst/>
          </a:prstGeom>
        </p:spPr>
      </p:pic>
      <p:sp>
        <p:nvSpPr>
          <p:cNvPr id="11" name="Title 1"/>
          <p:cNvSpPr txBox="1">
            <a:spLocks/>
          </p:cNvSpPr>
          <p:nvPr/>
        </p:nvSpPr>
        <p:spPr>
          <a:xfrm>
            <a:off x="914400" y="538690"/>
            <a:ext cx="10363200" cy="123610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000" kern="1200">
                <a:solidFill>
                  <a:srgbClr val="000000"/>
                </a:solidFill>
                <a:uFillTx/>
                <a:latin typeface="Cambria"/>
                <a:ea typeface="+mj-ea"/>
                <a:cs typeface="Cambria"/>
              </a:defRPr>
            </a:lvl1pPr>
          </a:lstStyle>
          <a:p>
            <a:endParaRPr lang="en-US" sz="2400">
              <a:solidFill>
                <a:srgbClr val="FF0000"/>
              </a:solidFill>
              <a:uFillTx/>
              <a:latin typeface="Palatino"/>
              <a:cs typeface="Palatino"/>
            </a:endParaRPr>
          </a:p>
        </p:txBody>
      </p:sp>
      <p:pic>
        <p:nvPicPr>
          <p:cNvPr id="6" name="Picture 5" descr="csllogo_50.png">
            <a:extLst>
              <a:ext uri="{FF2B5EF4-FFF2-40B4-BE49-F238E27FC236}">
                <a16:creationId xmlns:a16="http://schemas.microsoft.com/office/drawing/2014/main" id="{53FB44CC-682D-37DD-1AD9-4AEBBCC5C83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108078" y="6290226"/>
            <a:ext cx="948643" cy="431250"/>
          </a:xfrm>
          <a:prstGeom prst="rect">
            <a:avLst/>
          </a:prstGeom>
        </p:spPr>
      </p:pic>
    </p:spTree>
    <p:extLst>
      <p:ext uri="{BB962C8B-B14F-4D97-AF65-F5344CB8AC3E}">
        <p14:creationId xmlns:p14="http://schemas.microsoft.com/office/powerpoint/2010/main" val="3910989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47200" y="6492876"/>
            <a:ext cx="2844800" cy="365125"/>
          </a:xfrm>
        </p:spPr>
        <p:txBody>
          <a:bodyPr/>
          <a:lstStyle>
            <a:lvl1pPr algn="r">
              <a:defRPr>
                <a:uFillTx/>
              </a:defRPr>
            </a:lvl1pPr>
          </a:lstStyle>
          <a:p>
            <a:fld id="{6200E4C3-34F6-DE45-A4C6-A49633FDBADA}" type="slidenum">
              <a:rPr lang="en-US" smtClean="0"/>
              <a:t>‹#›</a:t>
            </a:fld>
            <a:endParaRPr lang="en-US"/>
          </a:p>
        </p:txBody>
      </p:sp>
      <p:sp>
        <p:nvSpPr>
          <p:cNvPr id="3" name="Content Placeholder 2"/>
          <p:cNvSpPr>
            <a:spLocks noGrp="1"/>
          </p:cNvSpPr>
          <p:nvPr>
            <p:ph idx="1"/>
          </p:nvPr>
        </p:nvSpPr>
        <p:spPr>
          <a:xfrm>
            <a:off x="609600" y="994030"/>
            <a:ext cx="10972800" cy="4525963"/>
          </a:xfrm>
        </p:spPr>
        <p:txBody>
          <a:bodyPr>
            <a:normAutofit/>
          </a:bodyPr>
          <a:lstStyle>
            <a:lvl1pPr marL="342900" indent="-342900">
              <a:buFont typeface="Andale Mono"/>
              <a:buChar char="▸"/>
              <a:defRPr sz="2400" b="0" i="0">
                <a:uFillTx/>
                <a:latin typeface="Helvetica" pitchFamily="2" charset="0"/>
                <a:cs typeface="Calibri" panose="020F0502020204030204" pitchFamily="34" charset="0"/>
              </a:defRPr>
            </a:lvl1pPr>
            <a:lvl2pPr>
              <a:defRPr sz="2000" b="0" i="0">
                <a:uFillTx/>
                <a:latin typeface="Helvetica" pitchFamily="2" charset="0"/>
                <a:cs typeface="Calibri" panose="020F0502020204030204" pitchFamily="34" charset="0"/>
              </a:defRPr>
            </a:lvl2pPr>
            <a:lvl3pPr>
              <a:defRPr sz="1800" b="0" i="0">
                <a:uFillTx/>
                <a:latin typeface="Helvetica" pitchFamily="2" charset="0"/>
                <a:cs typeface="Calibri" panose="020F0502020204030204" pitchFamily="34" charset="0"/>
              </a:defRPr>
            </a:lvl3pPr>
            <a:lvl4pPr>
              <a:defRPr sz="1600" b="0" i="0">
                <a:uFillTx/>
                <a:latin typeface="Helvetica" pitchFamily="2" charset="0"/>
                <a:cs typeface="Calibri" panose="020F0502020204030204" pitchFamily="34" charset="0"/>
              </a:defRPr>
            </a:lvl4pPr>
            <a:lvl5pPr>
              <a:defRPr sz="1600" b="0" i="0">
                <a:uFillTx/>
                <a:latin typeface="Helvetica" pitchFamily="2" charset="0"/>
                <a:cs typeface="Calibri" panose="020F0502020204030204" pitchFamily="34" charset="0"/>
              </a:defRPr>
            </a:lvl5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2" name="Title 1"/>
          <p:cNvSpPr>
            <a:spLocks noGrp="1"/>
          </p:cNvSpPr>
          <p:nvPr>
            <p:ph type="title"/>
          </p:nvPr>
        </p:nvSpPr>
        <p:spPr>
          <a:xfrm>
            <a:off x="643927" y="23850"/>
            <a:ext cx="10938473" cy="731170"/>
          </a:xfrm>
        </p:spPr>
        <p:txBody>
          <a:bodyPr>
            <a:normAutofit/>
          </a:bodyPr>
          <a:lstStyle>
            <a:lvl1pPr algn="l">
              <a:defRPr lang="en-US" sz="2800" b="1" i="0" kern="1200" dirty="0">
                <a:solidFill>
                  <a:srgbClr val="FF0000"/>
                </a:solidFill>
                <a:uFillTx/>
                <a:latin typeface="Helvetica"/>
                <a:ea typeface="+mn-ea"/>
                <a:cs typeface="Helvetica"/>
              </a:defRPr>
            </a:lvl1pPr>
          </a:lstStyle>
          <a:p>
            <a:r>
              <a:rPr lang="en-US">
                <a:uFillTx/>
              </a:rPr>
              <a:t>Click to edit Master title style</a:t>
            </a:r>
          </a:p>
        </p:txBody>
      </p:sp>
    </p:spTree>
    <p:extLst>
      <p:ext uri="{BB962C8B-B14F-4D97-AF65-F5344CB8AC3E}">
        <p14:creationId xmlns:p14="http://schemas.microsoft.com/office/powerpoint/2010/main" val="964383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uFillTx/>
              </a:defRPr>
            </a:lvl1pPr>
          </a:lstStyle>
          <a:p>
            <a:r>
              <a:rPr lang="en-US">
                <a:uFillTx/>
              </a:rPr>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uFillTx/>
              </a:defRPr>
            </a:lvl1pPr>
            <a:lvl2pPr marL="457200" indent="0">
              <a:buNone/>
              <a:defRPr sz="1800">
                <a:solidFill>
                  <a:schemeClr val="tx1">
                    <a:tint val="75000"/>
                  </a:schemeClr>
                </a:solidFill>
                <a:uFillTx/>
              </a:defRPr>
            </a:lvl2pPr>
            <a:lvl3pPr marL="914400" indent="0">
              <a:buNone/>
              <a:defRPr sz="1600">
                <a:solidFill>
                  <a:schemeClr val="tx1">
                    <a:tint val="75000"/>
                  </a:schemeClr>
                </a:solidFill>
                <a:uFillTx/>
              </a:defRPr>
            </a:lvl3pPr>
            <a:lvl4pPr marL="1371600" indent="0">
              <a:buNone/>
              <a:defRPr sz="1400">
                <a:solidFill>
                  <a:schemeClr val="tx1">
                    <a:tint val="75000"/>
                  </a:schemeClr>
                </a:solidFill>
                <a:uFillTx/>
              </a:defRPr>
            </a:lvl4pPr>
            <a:lvl5pPr marL="1828800" indent="0">
              <a:buNone/>
              <a:defRPr sz="1400">
                <a:solidFill>
                  <a:schemeClr val="tx1">
                    <a:tint val="75000"/>
                  </a:schemeClr>
                </a:solidFill>
                <a:uFillTx/>
              </a:defRPr>
            </a:lvl5pPr>
            <a:lvl6pPr marL="2286000" indent="0">
              <a:buNone/>
              <a:defRPr sz="1400">
                <a:solidFill>
                  <a:schemeClr val="tx1">
                    <a:tint val="75000"/>
                  </a:schemeClr>
                </a:solidFill>
                <a:uFillTx/>
              </a:defRPr>
            </a:lvl6pPr>
            <a:lvl7pPr marL="2743200" indent="0">
              <a:buNone/>
              <a:defRPr sz="1400">
                <a:solidFill>
                  <a:schemeClr val="tx1">
                    <a:tint val="75000"/>
                  </a:schemeClr>
                </a:solidFill>
                <a:uFillTx/>
              </a:defRPr>
            </a:lvl7pPr>
            <a:lvl8pPr marL="3200400" indent="0">
              <a:buNone/>
              <a:defRPr sz="1400">
                <a:solidFill>
                  <a:schemeClr val="tx1">
                    <a:tint val="75000"/>
                  </a:schemeClr>
                </a:solidFill>
                <a:uFillTx/>
              </a:defRPr>
            </a:lvl8pPr>
            <a:lvl9pPr marL="3657600" indent="0">
              <a:buNone/>
              <a:defRPr sz="1400">
                <a:solidFill>
                  <a:schemeClr val="tx1">
                    <a:tint val="75000"/>
                  </a:schemeClr>
                </a:solidFill>
                <a:uFillTx/>
              </a:defRPr>
            </a:lvl9pPr>
          </a:lstStyle>
          <a:p>
            <a:pPr lvl="0"/>
            <a:r>
              <a:rPr lang="en-US">
                <a:uFillTx/>
              </a:rPr>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3539625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2424669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uFillTx/>
              </a:defRPr>
            </a:lvl1pPr>
          </a:lstStyle>
          <a:p>
            <a:r>
              <a:rPr lang="en-US">
                <a:uFillTx/>
              </a:rPr>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uFillTx/>
              </a:defRPr>
            </a:lvl1pPr>
            <a:lvl2pPr>
              <a:defRPr sz="2800">
                <a:uFillTx/>
              </a:defRPr>
            </a:lvl2pPr>
            <a:lvl3pPr>
              <a:defRPr sz="2400">
                <a:uFillTx/>
              </a:defRPr>
            </a:lvl3pPr>
            <a:lvl4pPr>
              <a:defRPr sz="2000">
                <a:uFillTx/>
              </a:defRPr>
            </a:lvl4pPr>
            <a:lvl5pPr>
              <a:defRPr sz="2000">
                <a:uFillTx/>
              </a:defRPr>
            </a:lvl5pPr>
            <a:lvl6pPr>
              <a:defRPr sz="2000">
                <a:uFillTx/>
              </a:defRPr>
            </a:lvl6pPr>
            <a:lvl7pPr>
              <a:defRPr sz="2000">
                <a:uFillTx/>
              </a:defRPr>
            </a:lvl7pPr>
            <a:lvl8pPr>
              <a:defRPr sz="2000">
                <a:uFillTx/>
              </a:defRPr>
            </a:lvl8pPr>
            <a:lvl9pPr>
              <a:defRPr sz="2000">
                <a:uFillTx/>
              </a:defRPr>
            </a:lvl9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uFillTx/>
              </a:defRPr>
            </a:lvl1pPr>
            <a:lvl2pPr marL="457200" indent="0">
              <a:buNone/>
              <a:defRPr sz="1200">
                <a:uFillTx/>
              </a:defRPr>
            </a:lvl2pPr>
            <a:lvl3pPr marL="914400" indent="0">
              <a:buNone/>
              <a:defRPr sz="1000">
                <a:uFillTx/>
              </a:defRPr>
            </a:lvl3pPr>
            <a:lvl4pPr marL="1371600" indent="0">
              <a:buNone/>
              <a:defRPr sz="900">
                <a:uFillTx/>
              </a:defRPr>
            </a:lvl4pPr>
            <a:lvl5pPr marL="1828800" indent="0">
              <a:buNone/>
              <a:defRPr sz="900">
                <a:uFillTx/>
              </a:defRPr>
            </a:lvl5pPr>
            <a:lvl6pPr marL="2286000" indent="0">
              <a:buNone/>
              <a:defRPr sz="900">
                <a:uFillTx/>
              </a:defRPr>
            </a:lvl6pPr>
            <a:lvl7pPr marL="2743200" indent="0">
              <a:buNone/>
              <a:defRPr sz="900">
                <a:uFillTx/>
              </a:defRPr>
            </a:lvl7pPr>
            <a:lvl8pPr marL="3200400" indent="0">
              <a:buNone/>
              <a:defRPr sz="900">
                <a:uFillTx/>
              </a:defRPr>
            </a:lvl8pPr>
            <a:lvl9pPr marL="3657600" indent="0">
              <a:buNone/>
              <a:defRPr sz="900">
                <a:uFillTx/>
              </a:defRPr>
            </a:lvl9pPr>
          </a:lstStyle>
          <a:p>
            <a:pPr lvl="0"/>
            <a:r>
              <a:rPr lang="en-US">
                <a:uFillTx/>
              </a:rPr>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3362713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uFillTx/>
              </a:defRPr>
            </a:lvl1pPr>
          </a:lstStyle>
          <a:p>
            <a:r>
              <a:rPr lang="en-US">
                <a:uFillTx/>
              </a:rPr>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uFillTx/>
              </a:defRPr>
            </a:lvl1pPr>
            <a:lvl2pPr marL="457200" indent="0">
              <a:buNone/>
              <a:defRPr sz="2800">
                <a:uFillTx/>
              </a:defRPr>
            </a:lvl2pPr>
            <a:lvl3pPr marL="914400" indent="0">
              <a:buNone/>
              <a:defRPr sz="2400">
                <a:uFillTx/>
              </a:defRPr>
            </a:lvl3pPr>
            <a:lvl4pPr marL="1371600" indent="0">
              <a:buNone/>
              <a:defRPr sz="2000">
                <a:uFillTx/>
              </a:defRPr>
            </a:lvl4pPr>
            <a:lvl5pPr marL="1828800" indent="0">
              <a:buNone/>
              <a:defRPr sz="2000">
                <a:uFillTx/>
              </a:defRPr>
            </a:lvl5pPr>
            <a:lvl6pPr marL="2286000" indent="0">
              <a:buNone/>
              <a:defRPr sz="2000">
                <a:uFillTx/>
              </a:defRPr>
            </a:lvl6pPr>
            <a:lvl7pPr marL="2743200" indent="0">
              <a:buNone/>
              <a:defRPr sz="2000">
                <a:uFillTx/>
              </a:defRPr>
            </a:lvl7pPr>
            <a:lvl8pPr marL="3200400" indent="0">
              <a:buNone/>
              <a:defRPr sz="2000">
                <a:uFillTx/>
              </a:defRPr>
            </a:lvl8pPr>
            <a:lvl9pPr marL="3657600" indent="0">
              <a:buNone/>
              <a:defRPr sz="2000">
                <a:uFillTx/>
              </a:defRPr>
            </a:lvl9pPr>
          </a:lstStyle>
          <a:p>
            <a:r>
              <a:rPr lang="en-US">
                <a:uFillTx/>
              </a:rPr>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uFillTx/>
              </a:defRPr>
            </a:lvl1pPr>
            <a:lvl2pPr marL="457200" indent="0">
              <a:buNone/>
              <a:defRPr sz="1200">
                <a:uFillTx/>
              </a:defRPr>
            </a:lvl2pPr>
            <a:lvl3pPr marL="914400" indent="0">
              <a:buNone/>
              <a:defRPr sz="1000">
                <a:uFillTx/>
              </a:defRPr>
            </a:lvl3pPr>
            <a:lvl4pPr marL="1371600" indent="0">
              <a:buNone/>
              <a:defRPr sz="900">
                <a:uFillTx/>
              </a:defRPr>
            </a:lvl4pPr>
            <a:lvl5pPr marL="1828800" indent="0">
              <a:buNone/>
              <a:defRPr sz="900">
                <a:uFillTx/>
              </a:defRPr>
            </a:lvl5pPr>
            <a:lvl6pPr marL="2286000" indent="0">
              <a:buNone/>
              <a:defRPr sz="900">
                <a:uFillTx/>
              </a:defRPr>
            </a:lvl6pPr>
            <a:lvl7pPr marL="2743200" indent="0">
              <a:buNone/>
              <a:defRPr sz="900">
                <a:uFillTx/>
              </a:defRPr>
            </a:lvl7pPr>
            <a:lvl8pPr marL="3200400" indent="0">
              <a:buNone/>
              <a:defRPr sz="900">
                <a:uFillTx/>
              </a:defRPr>
            </a:lvl8pPr>
            <a:lvl9pPr marL="3657600" indent="0">
              <a:buNone/>
              <a:defRPr sz="900">
                <a:uFillTx/>
              </a:defRPr>
            </a:lvl9pPr>
          </a:lstStyle>
          <a:p>
            <a:pPr lvl="0"/>
            <a:r>
              <a:rPr lang="en-US">
                <a:uFillTx/>
              </a:rPr>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1060820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uFillTx/>
              </a:rPr>
              <a:t>Click to edit Master title style</a:t>
            </a:r>
          </a:p>
        </p:txBody>
      </p:sp>
      <p:sp>
        <p:nvSpPr>
          <p:cNvPr id="3" name="Vertical Text Placeholder 2"/>
          <p:cNvSpPr>
            <a:spLocks noGrp="1"/>
          </p:cNvSpPr>
          <p:nvPr>
            <p:ph type="body" orient="vert" idx="1"/>
          </p:nvPr>
        </p:nvSpPr>
        <p:spPr/>
        <p:txBody>
          <a:bodyPr vert="eaVert"/>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1982104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uFillTx/>
              </a:rPr>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00E4C3-34F6-DE45-A4C6-A49633FDBADA}" type="slidenum">
              <a:rPr lang="en-US" smtClean="0"/>
              <a:t>‹#›</a:t>
            </a:fld>
            <a:endParaRPr lang="en-US"/>
          </a:p>
        </p:txBody>
      </p:sp>
    </p:spTree>
    <p:extLst>
      <p:ext uri="{BB962C8B-B14F-4D97-AF65-F5344CB8AC3E}">
        <p14:creationId xmlns:p14="http://schemas.microsoft.com/office/powerpoint/2010/main" val="2037795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uFillTx/>
              </a:rPr>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uFillTx/>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uFillTx/>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uFillTx/>
              </a:defRPr>
            </a:lvl1pPr>
          </a:lstStyle>
          <a:p>
            <a:fld id="{6200E4C3-34F6-DE45-A4C6-A49633FDBADA}" type="slidenum">
              <a:rPr lang="en-US" smtClean="0"/>
              <a:t>‹#›</a:t>
            </a:fld>
            <a:endParaRPr lang="en-US"/>
          </a:p>
        </p:txBody>
      </p:sp>
    </p:spTree>
    <p:extLst>
      <p:ext uri="{BB962C8B-B14F-4D97-AF65-F5344CB8AC3E}">
        <p14:creationId xmlns:p14="http://schemas.microsoft.com/office/powerpoint/2010/main" val="24949095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ctr" defTabSz="457200" rtl="0" eaLnBrk="1" latinLnBrk="0" hangingPunct="1">
        <a:spcBef>
          <a:spcPct val="0"/>
        </a:spcBef>
        <a:buNone/>
        <a:defRPr sz="2800" b="1" kern="1200">
          <a:solidFill>
            <a:srgbClr val="FF0000"/>
          </a:solidFill>
          <a:uFillTx/>
          <a:latin typeface="Helvetica"/>
          <a:ea typeface="+mj-ea"/>
          <a:cs typeface="Helvetica"/>
        </a:defRPr>
      </a:lvl1pPr>
    </p:titleStyle>
    <p:bodyStyle>
      <a:lvl1pPr marL="342900" indent="-342900" algn="l" defTabSz="457200" rtl="0" eaLnBrk="1" latinLnBrk="0" hangingPunct="1">
        <a:spcBef>
          <a:spcPct val="20000"/>
        </a:spcBef>
        <a:buClr>
          <a:schemeClr val="accent2"/>
        </a:buClr>
        <a:buFont typeface="Andale Mono"/>
        <a:buChar char="▹"/>
        <a:defRPr sz="2400" kern="1200">
          <a:solidFill>
            <a:schemeClr val="tx1"/>
          </a:solidFill>
          <a:uFillTx/>
          <a:latin typeface="Helvetica"/>
          <a:ea typeface="+mn-ea"/>
          <a:cs typeface="Helvetica"/>
        </a:defRPr>
      </a:lvl1pPr>
      <a:lvl2pPr marL="742950" indent="-285750" algn="l" defTabSz="457200" rtl="0" eaLnBrk="1" latinLnBrk="0" hangingPunct="1">
        <a:spcBef>
          <a:spcPct val="20000"/>
        </a:spcBef>
        <a:buSzPct val="80000"/>
        <a:buFont typeface="Arial"/>
        <a:buChar char="–"/>
        <a:defRPr sz="2000" kern="1200">
          <a:solidFill>
            <a:schemeClr val="tx1"/>
          </a:solidFill>
          <a:uFillTx/>
          <a:latin typeface="Helvetica"/>
          <a:ea typeface="+mn-ea"/>
          <a:cs typeface="Helvetica"/>
        </a:defRPr>
      </a:lvl2pPr>
      <a:lvl3pPr marL="1143000" indent="-228600" algn="l" defTabSz="457200" rtl="0" eaLnBrk="1" latinLnBrk="0" hangingPunct="1">
        <a:spcBef>
          <a:spcPct val="20000"/>
        </a:spcBef>
        <a:buClr>
          <a:schemeClr val="tx1">
            <a:lumMod val="50000"/>
            <a:lumOff val="50000"/>
          </a:schemeClr>
        </a:buClr>
        <a:buFont typeface="Arial"/>
        <a:buChar char="•"/>
        <a:defRPr sz="1800" kern="1200">
          <a:solidFill>
            <a:schemeClr val="tx1"/>
          </a:solidFill>
          <a:uFillTx/>
          <a:latin typeface="Helvetica"/>
          <a:ea typeface="+mn-ea"/>
          <a:cs typeface="Helvetica"/>
        </a:defRPr>
      </a:lvl3pPr>
      <a:lvl4pPr marL="1600200" indent="-228600" algn="l" defTabSz="457200" rtl="0" eaLnBrk="1" latinLnBrk="0" hangingPunct="1">
        <a:spcBef>
          <a:spcPct val="20000"/>
        </a:spcBef>
        <a:buSzPct val="90000"/>
        <a:buFont typeface="Arial"/>
        <a:buChar char="–"/>
        <a:defRPr sz="1600" kern="1200">
          <a:solidFill>
            <a:schemeClr val="tx1"/>
          </a:solidFill>
          <a:uFillTx/>
          <a:latin typeface="Helvetica"/>
          <a:ea typeface="+mn-ea"/>
          <a:cs typeface="Helvetica"/>
        </a:defRPr>
      </a:lvl4pPr>
      <a:lvl5pPr marL="2057400" indent="-228600" algn="l" defTabSz="457200" rtl="0" eaLnBrk="1" latinLnBrk="0" hangingPunct="1">
        <a:spcBef>
          <a:spcPct val="20000"/>
        </a:spcBef>
        <a:buFont typeface="Arial"/>
        <a:buChar char="»"/>
        <a:defRPr sz="1600" kern="1200">
          <a:solidFill>
            <a:schemeClr val="tx1"/>
          </a:solidFill>
          <a:uFillTx/>
          <a:latin typeface="Helvetica"/>
          <a:ea typeface="+mn-ea"/>
          <a:cs typeface="Helvetica"/>
        </a:defRPr>
      </a:lvl5pPr>
      <a:lvl6pPr marL="25146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uFillTx/>
          <a:latin typeface="+mn-lt"/>
          <a:ea typeface="+mn-ea"/>
          <a:cs typeface="+mn-cs"/>
        </a:defRPr>
      </a:lvl9pPr>
    </p:bodyStyle>
    <p:otherStyle>
      <a:defPPr>
        <a:defRPr lang="en-US">
          <a:uFillTx/>
        </a:defRPr>
      </a:defPPr>
      <a:lvl1pPr marL="0" algn="l" defTabSz="457200" rtl="0" eaLnBrk="1" latinLnBrk="0" hangingPunct="1">
        <a:defRPr sz="1800" kern="1200">
          <a:solidFill>
            <a:schemeClr val="tx1"/>
          </a:solidFill>
          <a:uFillTx/>
          <a:latin typeface="+mn-lt"/>
          <a:ea typeface="+mn-ea"/>
          <a:cs typeface="+mn-cs"/>
        </a:defRPr>
      </a:lvl1pPr>
      <a:lvl2pPr marL="457200" algn="l" defTabSz="457200" rtl="0" eaLnBrk="1" latinLnBrk="0" hangingPunct="1">
        <a:defRPr sz="1800" kern="1200">
          <a:solidFill>
            <a:schemeClr val="tx1"/>
          </a:solidFill>
          <a:uFillTx/>
          <a:latin typeface="+mn-lt"/>
          <a:ea typeface="+mn-ea"/>
          <a:cs typeface="+mn-cs"/>
        </a:defRPr>
      </a:lvl2pPr>
      <a:lvl3pPr marL="914400" algn="l" defTabSz="457200" rtl="0" eaLnBrk="1" latinLnBrk="0" hangingPunct="1">
        <a:defRPr sz="1800" kern="1200">
          <a:solidFill>
            <a:schemeClr val="tx1"/>
          </a:solidFill>
          <a:uFillTx/>
          <a:latin typeface="+mn-lt"/>
          <a:ea typeface="+mn-ea"/>
          <a:cs typeface="+mn-cs"/>
        </a:defRPr>
      </a:lvl3pPr>
      <a:lvl4pPr marL="1371600" algn="l" defTabSz="457200" rtl="0" eaLnBrk="1" latinLnBrk="0" hangingPunct="1">
        <a:defRPr sz="1800" kern="1200">
          <a:solidFill>
            <a:schemeClr val="tx1"/>
          </a:solidFill>
          <a:uFillTx/>
          <a:latin typeface="+mn-lt"/>
          <a:ea typeface="+mn-ea"/>
          <a:cs typeface="+mn-cs"/>
        </a:defRPr>
      </a:lvl4pPr>
      <a:lvl5pPr marL="1828800" algn="l" defTabSz="457200" rtl="0" eaLnBrk="1" latinLnBrk="0" hangingPunct="1">
        <a:defRPr sz="1800" kern="1200">
          <a:solidFill>
            <a:schemeClr val="tx1"/>
          </a:solidFill>
          <a:uFillTx/>
          <a:latin typeface="+mn-lt"/>
          <a:ea typeface="+mn-ea"/>
          <a:cs typeface="+mn-cs"/>
        </a:defRPr>
      </a:lvl5pPr>
      <a:lvl6pPr marL="2286000" algn="l" defTabSz="457200" rtl="0" eaLnBrk="1" latinLnBrk="0" hangingPunct="1">
        <a:defRPr sz="1800" kern="1200">
          <a:solidFill>
            <a:schemeClr val="tx1"/>
          </a:solidFill>
          <a:uFillTx/>
          <a:latin typeface="+mn-lt"/>
          <a:ea typeface="+mn-ea"/>
          <a:cs typeface="+mn-cs"/>
        </a:defRPr>
      </a:lvl6pPr>
      <a:lvl7pPr marL="2743200" algn="l" defTabSz="457200" rtl="0" eaLnBrk="1" latinLnBrk="0" hangingPunct="1">
        <a:defRPr sz="1800" kern="1200">
          <a:solidFill>
            <a:schemeClr val="tx1"/>
          </a:solidFill>
          <a:uFillTx/>
          <a:latin typeface="+mn-lt"/>
          <a:ea typeface="+mn-ea"/>
          <a:cs typeface="+mn-cs"/>
        </a:defRPr>
      </a:lvl7pPr>
      <a:lvl8pPr marL="3200400" algn="l" defTabSz="457200" rtl="0" eaLnBrk="1" latinLnBrk="0" hangingPunct="1">
        <a:defRPr sz="1800" kern="1200">
          <a:solidFill>
            <a:schemeClr val="tx1"/>
          </a:solidFill>
          <a:uFillTx/>
          <a:latin typeface="+mn-lt"/>
          <a:ea typeface="+mn-ea"/>
          <a:cs typeface="+mn-cs"/>
        </a:defRPr>
      </a:lvl8pPr>
      <a:lvl9pPr marL="3657600" algn="l" defTabSz="457200" rtl="0" eaLnBrk="1" latinLnBrk="0" hangingPunct="1">
        <a:defRPr sz="1800" kern="1200">
          <a:solidFill>
            <a:schemeClr val="tx1"/>
          </a:solidFill>
          <a:uFillTx/>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last.ncbi.nlm.nih.gov/Blast.cgi" TargetMode="External"/><Relationship Id="rId2" Type="http://schemas.openxmlformats.org/officeDocument/2006/relationships/hyperlink" Target="https://github.com/waveygang/wfmash"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AB8A-1B84-D7A4-FB13-00746DB21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CAB20-9C12-697E-3660-F0282FEE3C24}"/>
              </a:ext>
            </a:extLst>
          </p:cNvPr>
          <p:cNvSpPr>
            <a:spLocks noGrp="1"/>
          </p:cNvSpPr>
          <p:nvPr>
            <p:ph type="ctrTitle"/>
          </p:nvPr>
        </p:nvSpPr>
        <p:spPr>
          <a:xfrm>
            <a:off x="914398" y="1958975"/>
            <a:ext cx="10458451" cy="1470025"/>
          </a:xfrm>
        </p:spPr>
        <p:txBody>
          <a:bodyPr>
            <a:normAutofit/>
          </a:bodyPr>
          <a:lstStyle/>
          <a:p>
            <a:r>
              <a:rPr lang="en-US" altLang="zh-CN" dirty="0"/>
              <a:t>GPU Accelerated Sequence</a:t>
            </a:r>
            <a:r>
              <a:rPr lang="zh-CN" altLang="en-US" dirty="0"/>
              <a:t> </a:t>
            </a:r>
            <a:r>
              <a:rPr lang="en-US" altLang="zh-CN" dirty="0"/>
              <a:t>Alignment with Triton</a:t>
            </a:r>
            <a:endParaRPr lang="en-US" dirty="0"/>
          </a:p>
        </p:txBody>
      </p:sp>
      <p:sp>
        <p:nvSpPr>
          <p:cNvPr id="3" name="Subtitle 2">
            <a:extLst>
              <a:ext uri="{FF2B5EF4-FFF2-40B4-BE49-F238E27FC236}">
                <a16:creationId xmlns:a16="http://schemas.microsoft.com/office/drawing/2014/main" id="{0CA895BC-5DD2-A3F0-A254-DCB4C81E738F}"/>
              </a:ext>
            </a:extLst>
          </p:cNvPr>
          <p:cNvSpPr>
            <a:spLocks noGrp="1"/>
          </p:cNvSpPr>
          <p:nvPr>
            <p:ph type="subTitle" idx="1"/>
          </p:nvPr>
        </p:nvSpPr>
        <p:spPr>
          <a:xfrm>
            <a:off x="1459906" y="3428999"/>
            <a:ext cx="9272187" cy="2772104"/>
          </a:xfrm>
        </p:spPr>
        <p:txBody>
          <a:bodyPr>
            <a:normAutofit/>
          </a:bodyPr>
          <a:lstStyle/>
          <a:p>
            <a:endParaRPr lang="en-US" b="1" dirty="0"/>
          </a:p>
          <a:p>
            <a:endParaRPr lang="en-US" b="1" dirty="0"/>
          </a:p>
          <a:p>
            <a:r>
              <a:rPr lang="en-US" b="1" dirty="0"/>
              <a:t>Jiajie Li</a:t>
            </a:r>
            <a:endParaRPr lang="en-US" dirty="0"/>
          </a:p>
          <a:p>
            <a:endParaRPr lang="en-US" altLang="zh-CN" sz="2000" dirty="0">
              <a:solidFill>
                <a:schemeClr val="bg1">
                  <a:lumMod val="50000"/>
                </a:schemeClr>
              </a:solidFill>
            </a:endParaRPr>
          </a:p>
          <a:p>
            <a:r>
              <a:rPr lang="en-US" altLang="zh-CN" sz="2000" dirty="0">
                <a:solidFill>
                  <a:schemeClr val="bg1">
                    <a:lumMod val="50000"/>
                  </a:schemeClr>
                </a:solidFill>
              </a:rPr>
              <a:t>10</a:t>
            </a:r>
            <a:r>
              <a:rPr lang="en-US" sz="2000" dirty="0">
                <a:solidFill>
                  <a:schemeClr val="bg1">
                    <a:lumMod val="50000"/>
                  </a:schemeClr>
                </a:solidFill>
              </a:rPr>
              <a:t>/22/202</a:t>
            </a:r>
            <a:r>
              <a:rPr lang="en-US" altLang="zh-CN" sz="2000" dirty="0">
                <a:solidFill>
                  <a:schemeClr val="bg1">
                    <a:lumMod val="50000"/>
                  </a:schemeClr>
                </a:solidFill>
              </a:rPr>
              <a:t>5</a:t>
            </a:r>
            <a:endParaRPr lang="en-US" sz="2000" dirty="0">
              <a:solidFill>
                <a:schemeClr val="bg1">
                  <a:lumMod val="50000"/>
                </a:schemeClr>
              </a:solidFill>
            </a:endParaRPr>
          </a:p>
        </p:txBody>
      </p:sp>
    </p:spTree>
    <p:extLst>
      <p:ext uri="{BB962C8B-B14F-4D97-AF65-F5344CB8AC3E}">
        <p14:creationId xmlns:p14="http://schemas.microsoft.com/office/powerpoint/2010/main" val="3727938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AC817D-6662-15ED-4195-A563FDB775F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00E4C3-34F6-DE45-A4C6-A49633FDBADA}" type="slidenum">
              <a:rPr kumimoji="0" lang="en-US" sz="1200" b="0" i="0" u="none" strike="noStrike" kern="1200" cap="none" spc="0" normalizeH="0" baseline="0" noProof="0" smtClean="0">
                <a:ln>
                  <a:noFill/>
                </a:ln>
                <a:solidFill>
                  <a:srgbClr val="000000">
                    <a:tint val="75000"/>
                  </a:srgbClr>
                </a:solidFill>
                <a:effectLst/>
                <a:uLnTx/>
                <a:uFillTx/>
                <a:latin typeface="Calisto M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000000">
                  <a:tint val="75000"/>
                </a:srgbClr>
              </a:solidFill>
              <a:effectLst/>
              <a:uLnTx/>
              <a:uFillTx/>
              <a:latin typeface="Calisto MT"/>
              <a:ea typeface="+mn-ea"/>
              <a:cs typeface="+mn-cs"/>
            </a:endParaRPr>
          </a:p>
        </p:txBody>
      </p:sp>
      <p:sp>
        <p:nvSpPr>
          <p:cNvPr id="3" name="Content Placeholder 2">
            <a:extLst>
              <a:ext uri="{FF2B5EF4-FFF2-40B4-BE49-F238E27FC236}">
                <a16:creationId xmlns:a16="http://schemas.microsoft.com/office/drawing/2014/main" id="{AD21C54F-E494-77D4-BF12-530CC7722BCE}"/>
              </a:ext>
            </a:extLst>
          </p:cNvPr>
          <p:cNvSpPr>
            <a:spLocks noGrp="1"/>
          </p:cNvSpPr>
          <p:nvPr>
            <p:ph idx="1"/>
          </p:nvPr>
        </p:nvSpPr>
        <p:spPr>
          <a:xfrm>
            <a:off x="609600" y="994030"/>
            <a:ext cx="7837283" cy="4525963"/>
          </a:xfrm>
        </p:spPr>
        <p:txBody>
          <a:bodyPr>
            <a:noAutofit/>
          </a:bodyPr>
          <a:lstStyle/>
          <a:p>
            <a:r>
              <a:rPr lang="en-US" altLang="zh-CN" dirty="0"/>
              <a:t>Over</a:t>
            </a:r>
            <a:r>
              <a:rPr lang="zh-CN" altLang="en-US" dirty="0"/>
              <a:t> </a:t>
            </a:r>
            <a:r>
              <a:rPr lang="en-US" altLang="zh-CN" dirty="0"/>
              <a:t>time,</a:t>
            </a:r>
            <a:r>
              <a:rPr lang="zh-CN" altLang="en-US" dirty="0"/>
              <a:t> </a:t>
            </a:r>
            <a:r>
              <a:rPr lang="en-US" altLang="zh-CN" dirty="0"/>
              <a:t>genes</a:t>
            </a:r>
            <a:r>
              <a:rPr lang="zh-CN" altLang="en-US" dirty="0"/>
              <a:t> </a:t>
            </a:r>
            <a:r>
              <a:rPr lang="en-US" altLang="zh-CN" dirty="0"/>
              <a:t>(DNAs)</a:t>
            </a:r>
            <a:r>
              <a:rPr lang="zh-CN" altLang="en-US" dirty="0"/>
              <a:t> </a:t>
            </a:r>
            <a:r>
              <a:rPr lang="en-US" altLang="zh-CN" dirty="0"/>
              <a:t>accumulate</a:t>
            </a:r>
            <a:r>
              <a:rPr lang="zh-CN" altLang="en-US" dirty="0"/>
              <a:t> </a:t>
            </a:r>
            <a:r>
              <a:rPr lang="en-US" altLang="zh-CN" dirty="0"/>
              <a:t>mutations</a:t>
            </a:r>
          </a:p>
          <a:p>
            <a:pPr lvl="1"/>
            <a:r>
              <a:rPr lang="en-US" altLang="zh-CN" dirty="0"/>
              <a:t>Deletions,</a:t>
            </a:r>
            <a:r>
              <a:rPr lang="zh-CN" altLang="en-US" dirty="0"/>
              <a:t> </a:t>
            </a:r>
            <a:r>
              <a:rPr lang="en-US" altLang="zh-CN" dirty="0"/>
              <a:t>insertions,</a:t>
            </a:r>
            <a:r>
              <a:rPr lang="zh-CN" altLang="en-US" dirty="0"/>
              <a:t> </a:t>
            </a:r>
            <a:r>
              <a:rPr lang="en-US" altLang="zh-CN" dirty="0"/>
              <a:t>substitutions,</a:t>
            </a:r>
            <a:r>
              <a:rPr lang="zh-CN" altLang="en-US" dirty="0"/>
              <a:t> </a:t>
            </a:r>
            <a:r>
              <a:rPr lang="en-US" altLang="zh-CN" dirty="0"/>
              <a:t>…</a:t>
            </a:r>
          </a:p>
          <a:p>
            <a:r>
              <a:rPr lang="en-US" altLang="zh-CN" dirty="0"/>
              <a:t>Comparing</a:t>
            </a:r>
            <a:r>
              <a:rPr lang="zh-CN" altLang="en-US" dirty="0"/>
              <a:t> </a:t>
            </a:r>
            <a:r>
              <a:rPr lang="en-US" altLang="zh-CN" dirty="0"/>
              <a:t>two</a:t>
            </a:r>
            <a:r>
              <a:rPr lang="zh-CN" altLang="en-US" dirty="0"/>
              <a:t> </a:t>
            </a:r>
            <a:r>
              <a:rPr lang="en-US" altLang="zh-CN" dirty="0"/>
              <a:t>DNA</a:t>
            </a:r>
            <a:r>
              <a:rPr lang="zh-CN" altLang="en-US" dirty="0"/>
              <a:t> </a:t>
            </a:r>
            <a:r>
              <a:rPr lang="en-US" altLang="zh-CN" dirty="0"/>
              <a:t>sequences</a:t>
            </a:r>
          </a:p>
        </p:txBody>
      </p:sp>
      <p:sp>
        <p:nvSpPr>
          <p:cNvPr id="4" name="Title 3">
            <a:extLst>
              <a:ext uri="{FF2B5EF4-FFF2-40B4-BE49-F238E27FC236}">
                <a16:creationId xmlns:a16="http://schemas.microsoft.com/office/drawing/2014/main" id="{F726D039-80B9-7201-5611-EC02952963E0}"/>
              </a:ext>
            </a:extLst>
          </p:cNvPr>
          <p:cNvSpPr>
            <a:spLocks noGrp="1"/>
          </p:cNvSpPr>
          <p:nvPr>
            <p:ph type="title"/>
          </p:nvPr>
        </p:nvSpPr>
        <p:spPr/>
        <p:txBody>
          <a:bodyPr/>
          <a:lstStyle/>
          <a:p>
            <a:r>
              <a:rPr lang="en-US" altLang="zh-CN" dirty="0"/>
              <a:t>Sequence</a:t>
            </a:r>
            <a:r>
              <a:rPr lang="zh-CN" altLang="en-US" dirty="0"/>
              <a:t> </a:t>
            </a:r>
            <a:r>
              <a:rPr lang="en-US" altLang="zh-CN" dirty="0"/>
              <a:t>Alignment</a:t>
            </a:r>
            <a:r>
              <a:rPr lang="zh-CN" altLang="en-US" dirty="0"/>
              <a:t> </a:t>
            </a:r>
            <a:r>
              <a:rPr lang="en-US" altLang="zh-CN" dirty="0"/>
              <a:t>is</a:t>
            </a:r>
            <a:r>
              <a:rPr lang="zh-CN" altLang="en-US" dirty="0"/>
              <a:t> </a:t>
            </a:r>
            <a:r>
              <a:rPr lang="en-US" altLang="zh-CN" dirty="0"/>
              <a:t>the</a:t>
            </a:r>
            <a:r>
              <a:rPr lang="zh-CN" altLang="en-US" dirty="0"/>
              <a:t> </a:t>
            </a:r>
            <a:r>
              <a:rPr lang="en-US" altLang="zh-CN" dirty="0"/>
              <a:t>Cornerstone</a:t>
            </a:r>
            <a:r>
              <a:rPr lang="zh-CN" altLang="en-US" dirty="0"/>
              <a:t> </a:t>
            </a:r>
            <a:r>
              <a:rPr lang="en-US" altLang="zh-CN" dirty="0"/>
              <a:t>of</a:t>
            </a:r>
            <a:r>
              <a:rPr lang="zh-CN" altLang="en-US" dirty="0"/>
              <a:t> </a:t>
            </a:r>
            <a:r>
              <a:rPr lang="en-US" altLang="zh-CN" dirty="0"/>
              <a:t>Bioinformatics</a:t>
            </a:r>
            <a:endParaRPr lang="en-US" dirty="0"/>
          </a:p>
        </p:txBody>
      </p:sp>
      <p:pic>
        <p:nvPicPr>
          <p:cNvPr id="11" name="Picture 10">
            <a:extLst>
              <a:ext uri="{FF2B5EF4-FFF2-40B4-BE49-F238E27FC236}">
                <a16:creationId xmlns:a16="http://schemas.microsoft.com/office/drawing/2014/main" id="{BA5DF93B-3E4B-E2A6-2A9F-AED86C047E11}"/>
              </a:ext>
            </a:extLst>
          </p:cNvPr>
          <p:cNvPicPr>
            <a:picLocks noChangeAspect="1"/>
          </p:cNvPicPr>
          <p:nvPr/>
        </p:nvPicPr>
        <p:blipFill>
          <a:blip r:embed="rId2"/>
          <a:stretch>
            <a:fillRect/>
          </a:stretch>
        </p:blipFill>
        <p:spPr>
          <a:xfrm>
            <a:off x="8687853" y="920834"/>
            <a:ext cx="3048456" cy="4599159"/>
          </a:xfrm>
          <a:prstGeom prst="rect">
            <a:avLst/>
          </a:prstGeom>
        </p:spPr>
      </p:pic>
      <p:pic>
        <p:nvPicPr>
          <p:cNvPr id="5" name="Picture 4">
            <a:extLst>
              <a:ext uri="{FF2B5EF4-FFF2-40B4-BE49-F238E27FC236}">
                <a16:creationId xmlns:a16="http://schemas.microsoft.com/office/drawing/2014/main" id="{5BE65F49-AACC-4F90-5532-395B802DE265}"/>
              </a:ext>
            </a:extLst>
          </p:cNvPr>
          <p:cNvPicPr>
            <a:picLocks noChangeAspect="1"/>
          </p:cNvPicPr>
          <p:nvPr/>
        </p:nvPicPr>
        <p:blipFill>
          <a:blip r:embed="rId3"/>
          <a:stretch>
            <a:fillRect/>
          </a:stretch>
        </p:blipFill>
        <p:spPr>
          <a:xfrm>
            <a:off x="1057659" y="2987424"/>
            <a:ext cx="6539320" cy="2771579"/>
          </a:xfrm>
          <a:prstGeom prst="rect">
            <a:avLst/>
          </a:prstGeom>
        </p:spPr>
      </p:pic>
    </p:spTree>
    <p:extLst>
      <p:ext uri="{BB962C8B-B14F-4D97-AF65-F5344CB8AC3E}">
        <p14:creationId xmlns:p14="http://schemas.microsoft.com/office/powerpoint/2010/main" val="1051727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3D1DF1-F533-1865-82DC-4F7C605DCEFD}"/>
              </a:ext>
            </a:extLst>
          </p:cNvPr>
          <p:cNvSpPr>
            <a:spLocks noGrp="1"/>
          </p:cNvSpPr>
          <p:nvPr>
            <p:ph type="sldNum" sz="quarter" idx="12"/>
          </p:nvPr>
        </p:nvSpPr>
        <p:spPr/>
        <p:txBody>
          <a:bodyPr/>
          <a:lstStyle/>
          <a:p>
            <a:fld id="{6200E4C3-34F6-DE45-A4C6-A49633FDBADA}" type="slidenum">
              <a:rPr lang="en-US" smtClean="0"/>
              <a:t>3</a:t>
            </a:fld>
            <a:endParaRPr lang="en-US"/>
          </a:p>
        </p:txBody>
      </p:sp>
      <p:sp>
        <p:nvSpPr>
          <p:cNvPr id="3" name="Content Placeholder 2">
            <a:extLst>
              <a:ext uri="{FF2B5EF4-FFF2-40B4-BE49-F238E27FC236}">
                <a16:creationId xmlns:a16="http://schemas.microsoft.com/office/drawing/2014/main" id="{6D36E0A6-1DA3-EF64-B4CB-43D0160914D7}"/>
              </a:ext>
            </a:extLst>
          </p:cNvPr>
          <p:cNvSpPr>
            <a:spLocks noGrp="1"/>
          </p:cNvSpPr>
          <p:nvPr>
            <p:ph idx="1"/>
          </p:nvPr>
        </p:nvSpPr>
        <p:spPr/>
        <p:txBody>
          <a:bodyPr>
            <a:noAutofit/>
          </a:bodyPr>
          <a:lstStyle/>
          <a:p>
            <a:r>
              <a:rPr lang="en-US" altLang="zh-CN" dirty="0"/>
              <a:t>Read</a:t>
            </a:r>
            <a:r>
              <a:rPr lang="zh-CN" altLang="en-US" dirty="0"/>
              <a:t> </a:t>
            </a:r>
            <a:r>
              <a:rPr lang="en-US" altLang="zh-CN" dirty="0"/>
              <a:t>Mapping:</a:t>
            </a:r>
            <a:r>
              <a:rPr lang="zh-CN" altLang="en-US" dirty="0"/>
              <a:t> </a:t>
            </a:r>
            <a:r>
              <a:rPr lang="en-US" altLang="zh-CN" dirty="0"/>
              <a:t>align</a:t>
            </a:r>
            <a:r>
              <a:rPr lang="zh-CN" altLang="en-US" dirty="0"/>
              <a:t> </a:t>
            </a:r>
            <a:r>
              <a:rPr lang="en-US" altLang="zh-CN" dirty="0"/>
              <a:t>millions</a:t>
            </a:r>
            <a:r>
              <a:rPr lang="zh-CN" altLang="en-US" dirty="0"/>
              <a:t> </a:t>
            </a:r>
            <a:r>
              <a:rPr lang="en-US" altLang="zh-CN" dirty="0"/>
              <a:t>of</a:t>
            </a:r>
            <a:r>
              <a:rPr lang="zh-CN" altLang="en-US" dirty="0"/>
              <a:t> </a:t>
            </a:r>
            <a:r>
              <a:rPr lang="en-US" altLang="zh-CN" dirty="0"/>
              <a:t>reads</a:t>
            </a:r>
            <a:r>
              <a:rPr lang="zh-CN" altLang="en-US" dirty="0"/>
              <a:t> </a:t>
            </a:r>
            <a:r>
              <a:rPr lang="en-US" altLang="zh-CN" dirty="0"/>
              <a:t>to</a:t>
            </a:r>
            <a:r>
              <a:rPr lang="zh-CN" altLang="en-US" dirty="0"/>
              <a:t> </a:t>
            </a:r>
            <a:r>
              <a:rPr lang="en-US" altLang="zh-CN" dirty="0"/>
              <a:t>a</a:t>
            </a:r>
            <a:r>
              <a:rPr lang="zh-CN" altLang="en-US" dirty="0"/>
              <a:t> </a:t>
            </a:r>
            <a:r>
              <a:rPr lang="en-US" altLang="zh-CN" dirty="0"/>
              <a:t>reference</a:t>
            </a:r>
            <a:r>
              <a:rPr lang="zh-CN" altLang="en-US" dirty="0"/>
              <a:t> </a:t>
            </a:r>
            <a:r>
              <a:rPr lang="en-US" altLang="zh-CN" dirty="0"/>
              <a:t>genome</a:t>
            </a:r>
          </a:p>
          <a:p>
            <a:pPr lvl="1"/>
            <a:r>
              <a:rPr lang="en-US" altLang="zh-CN" dirty="0"/>
              <a:t>Short-read</a:t>
            </a:r>
            <a:r>
              <a:rPr lang="zh-CN" altLang="en-US" dirty="0"/>
              <a:t> </a:t>
            </a:r>
            <a:r>
              <a:rPr lang="en-US" altLang="zh-CN" dirty="0"/>
              <a:t>mapping:</a:t>
            </a:r>
            <a:r>
              <a:rPr lang="zh-CN" altLang="en-US" dirty="0"/>
              <a:t> </a:t>
            </a:r>
            <a:r>
              <a:rPr lang="en-US" altLang="zh-CN" dirty="0"/>
              <a:t>100-300bp</a:t>
            </a:r>
            <a:r>
              <a:rPr lang="zh-CN" altLang="en-US" dirty="0"/>
              <a:t> </a:t>
            </a:r>
            <a:r>
              <a:rPr lang="en-US" altLang="zh-CN" dirty="0"/>
              <a:t>from</a:t>
            </a:r>
            <a:r>
              <a:rPr lang="zh-CN" altLang="en-US" dirty="0"/>
              <a:t> </a:t>
            </a:r>
            <a:r>
              <a:rPr lang="en-US" altLang="zh-CN" dirty="0"/>
              <a:t>Illumina</a:t>
            </a:r>
          </a:p>
          <a:p>
            <a:pPr lvl="2"/>
            <a:r>
              <a:rPr lang="en-US" altLang="zh-CN" dirty="0"/>
              <a:t>Aligner:</a:t>
            </a:r>
            <a:r>
              <a:rPr lang="zh-CN" altLang="en-US" dirty="0"/>
              <a:t> </a:t>
            </a:r>
            <a:r>
              <a:rPr lang="en-US" altLang="zh-CN" dirty="0"/>
              <a:t>BWA-MEM</a:t>
            </a:r>
            <a:r>
              <a:rPr lang="en-US" altLang="zh-CN" baseline="30000" dirty="0"/>
              <a:t>[1]</a:t>
            </a:r>
            <a:endParaRPr lang="en-US" altLang="zh-CN" dirty="0"/>
          </a:p>
          <a:p>
            <a:pPr lvl="1"/>
            <a:r>
              <a:rPr lang="en-US" altLang="zh-CN" dirty="0"/>
              <a:t>Long-read</a:t>
            </a:r>
            <a:r>
              <a:rPr lang="zh-CN" altLang="en-US" dirty="0"/>
              <a:t> </a:t>
            </a:r>
            <a:r>
              <a:rPr lang="en-US" altLang="zh-CN" dirty="0"/>
              <a:t>mapping:</a:t>
            </a:r>
            <a:r>
              <a:rPr lang="zh-CN" altLang="en-US" dirty="0"/>
              <a:t> </a:t>
            </a:r>
            <a:r>
              <a:rPr lang="en-US" altLang="zh-CN" dirty="0"/>
              <a:t>1000-10000bp</a:t>
            </a:r>
            <a:r>
              <a:rPr lang="zh-CN" altLang="en-US" dirty="0"/>
              <a:t> </a:t>
            </a:r>
            <a:r>
              <a:rPr lang="en-US" altLang="zh-CN" dirty="0"/>
              <a:t>from</a:t>
            </a:r>
            <a:r>
              <a:rPr lang="zh-CN" altLang="en-US" dirty="0"/>
              <a:t> </a:t>
            </a:r>
            <a:r>
              <a:rPr lang="en-US" altLang="zh-CN" dirty="0"/>
              <a:t>Oxford</a:t>
            </a:r>
            <a:r>
              <a:rPr lang="zh-CN" altLang="en-US" dirty="0"/>
              <a:t> </a:t>
            </a:r>
            <a:r>
              <a:rPr lang="en-US" altLang="zh-CN" dirty="0"/>
              <a:t>Nanopore,</a:t>
            </a:r>
            <a:r>
              <a:rPr lang="zh-CN" altLang="en-US" dirty="0"/>
              <a:t> </a:t>
            </a:r>
            <a:r>
              <a:rPr lang="en-US" altLang="zh-CN" dirty="0"/>
              <a:t>PacBio</a:t>
            </a:r>
          </a:p>
          <a:p>
            <a:pPr lvl="2"/>
            <a:r>
              <a:rPr lang="en-US" altLang="zh-CN" dirty="0"/>
              <a:t>Aligner:</a:t>
            </a:r>
            <a:r>
              <a:rPr lang="zh-CN" altLang="en-US" dirty="0"/>
              <a:t> </a:t>
            </a:r>
            <a:r>
              <a:rPr lang="en-US" altLang="zh-CN" dirty="0"/>
              <a:t>minimap2</a:t>
            </a:r>
            <a:r>
              <a:rPr lang="en-US" altLang="zh-CN" baseline="30000" dirty="0"/>
              <a:t>[2]</a:t>
            </a:r>
            <a:endParaRPr lang="en-US" altLang="zh-CN" dirty="0"/>
          </a:p>
          <a:p>
            <a:r>
              <a:rPr lang="en-US" altLang="zh-CN" dirty="0"/>
              <a:t>Whole-genome</a:t>
            </a:r>
            <a:r>
              <a:rPr lang="zh-CN" altLang="en-US" dirty="0"/>
              <a:t> </a:t>
            </a:r>
            <a:r>
              <a:rPr lang="en-US" altLang="zh-CN" dirty="0"/>
              <a:t>alignment</a:t>
            </a:r>
            <a:r>
              <a:rPr lang="zh-CN" altLang="en-US" dirty="0"/>
              <a:t> </a:t>
            </a:r>
            <a:r>
              <a:rPr lang="en-US" altLang="zh-CN" dirty="0"/>
              <a:t>(WGA)</a:t>
            </a:r>
          </a:p>
          <a:p>
            <a:pPr lvl="1"/>
            <a:r>
              <a:rPr lang="en-US" altLang="zh-CN" dirty="0"/>
              <a:t>Whole</a:t>
            </a:r>
            <a:r>
              <a:rPr lang="zh-CN" altLang="en-US" dirty="0"/>
              <a:t> </a:t>
            </a:r>
            <a:r>
              <a:rPr lang="en-US" altLang="zh-CN" dirty="0"/>
              <a:t>genomes</a:t>
            </a:r>
            <a:r>
              <a:rPr lang="zh-CN" altLang="en-US" dirty="0"/>
              <a:t> </a:t>
            </a:r>
            <a:r>
              <a:rPr lang="en-US" altLang="zh-CN" dirty="0"/>
              <a:t>have</a:t>
            </a:r>
            <a:r>
              <a:rPr lang="zh-CN" altLang="en-US" dirty="0"/>
              <a:t> </a:t>
            </a:r>
            <a:r>
              <a:rPr lang="en-US" altLang="zh-CN" dirty="0"/>
              <a:t>billions</a:t>
            </a:r>
            <a:r>
              <a:rPr lang="zh-CN" altLang="en-US" dirty="0"/>
              <a:t> </a:t>
            </a:r>
            <a:r>
              <a:rPr lang="en-US" altLang="zh-CN" dirty="0"/>
              <a:t>of</a:t>
            </a:r>
            <a:r>
              <a:rPr lang="zh-CN" altLang="en-US" dirty="0"/>
              <a:t> </a:t>
            </a:r>
            <a:r>
              <a:rPr lang="en-US" altLang="zh-CN" dirty="0"/>
              <a:t>bp</a:t>
            </a:r>
          </a:p>
          <a:p>
            <a:pPr lvl="1"/>
            <a:r>
              <a:rPr lang="en-US" altLang="zh-CN" dirty="0"/>
              <a:t>Find</a:t>
            </a:r>
            <a:r>
              <a:rPr lang="zh-CN" altLang="en-US" dirty="0"/>
              <a:t> </a:t>
            </a:r>
            <a:r>
              <a:rPr lang="en-US" altLang="zh-CN" dirty="0"/>
              <a:t>conserved</a:t>
            </a:r>
            <a:r>
              <a:rPr lang="zh-CN" altLang="en-US" dirty="0"/>
              <a:t> </a:t>
            </a:r>
            <a:r>
              <a:rPr lang="en-US" altLang="zh-CN" dirty="0"/>
              <a:t>regions</a:t>
            </a:r>
            <a:r>
              <a:rPr lang="zh-CN" altLang="en-US" dirty="0"/>
              <a:t> </a:t>
            </a:r>
            <a:r>
              <a:rPr lang="en-US" altLang="zh-CN" dirty="0"/>
              <a:t>between</a:t>
            </a:r>
            <a:r>
              <a:rPr lang="zh-CN" altLang="en-US" dirty="0"/>
              <a:t> </a:t>
            </a:r>
            <a:r>
              <a:rPr lang="en-US" altLang="zh-CN" dirty="0"/>
              <a:t>species;</a:t>
            </a:r>
            <a:r>
              <a:rPr lang="zh-CN" altLang="en-US" dirty="0"/>
              <a:t> </a:t>
            </a:r>
            <a:r>
              <a:rPr lang="en-US" altLang="zh-CN" dirty="0"/>
              <a:t>map</a:t>
            </a:r>
            <a:r>
              <a:rPr lang="zh-CN" altLang="en-US" dirty="0"/>
              <a:t> </a:t>
            </a:r>
            <a:r>
              <a:rPr lang="en-US" altLang="zh-CN" dirty="0"/>
              <a:t>a</a:t>
            </a:r>
            <a:r>
              <a:rPr lang="zh-CN" altLang="en-US" dirty="0"/>
              <a:t> </a:t>
            </a:r>
            <a:r>
              <a:rPr lang="en-US" altLang="zh-CN" dirty="0"/>
              <a:t>new</a:t>
            </a:r>
            <a:r>
              <a:rPr lang="zh-CN" altLang="en-US" dirty="0"/>
              <a:t> </a:t>
            </a:r>
            <a:r>
              <a:rPr lang="en-US" altLang="zh-CN" dirty="0"/>
              <a:t>assembly</a:t>
            </a:r>
            <a:r>
              <a:rPr lang="zh-CN" altLang="en-US" dirty="0"/>
              <a:t> </a:t>
            </a:r>
            <a:r>
              <a:rPr lang="en-US" altLang="zh-CN" dirty="0"/>
              <a:t>against</a:t>
            </a:r>
            <a:r>
              <a:rPr lang="zh-CN" altLang="en-US" dirty="0"/>
              <a:t> </a:t>
            </a:r>
            <a:r>
              <a:rPr lang="en-US" altLang="zh-CN" dirty="0"/>
              <a:t>a</a:t>
            </a:r>
            <a:r>
              <a:rPr lang="zh-CN" altLang="en-US" dirty="0"/>
              <a:t> </a:t>
            </a:r>
            <a:r>
              <a:rPr lang="en-US" altLang="zh-CN" dirty="0"/>
              <a:t>reference</a:t>
            </a:r>
            <a:r>
              <a:rPr lang="zh-CN" altLang="en-US" dirty="0"/>
              <a:t> </a:t>
            </a:r>
            <a:r>
              <a:rPr lang="en-US" altLang="zh-CN" dirty="0"/>
              <a:t>for</a:t>
            </a:r>
            <a:r>
              <a:rPr lang="zh-CN" altLang="en-US" dirty="0"/>
              <a:t> </a:t>
            </a:r>
            <a:r>
              <a:rPr lang="en-US" altLang="zh-CN" dirty="0"/>
              <a:t>variant</a:t>
            </a:r>
            <a:r>
              <a:rPr lang="zh-CN" altLang="en-US" dirty="0"/>
              <a:t> </a:t>
            </a:r>
            <a:r>
              <a:rPr lang="en-US" altLang="zh-CN" dirty="0"/>
              <a:t>analysis</a:t>
            </a:r>
          </a:p>
          <a:p>
            <a:pPr lvl="1"/>
            <a:r>
              <a:rPr lang="en-US" altLang="zh-CN" dirty="0"/>
              <a:t>Aligner:</a:t>
            </a:r>
            <a:r>
              <a:rPr lang="zh-CN" altLang="en-US" dirty="0"/>
              <a:t> </a:t>
            </a:r>
            <a:r>
              <a:rPr lang="en-US" altLang="zh-CN" dirty="0" err="1"/>
              <a:t>LastZ</a:t>
            </a:r>
            <a:r>
              <a:rPr lang="en-US" altLang="zh-CN" baseline="30000" dirty="0"/>
              <a:t>[3]</a:t>
            </a:r>
            <a:r>
              <a:rPr lang="en-US" altLang="zh-CN" dirty="0"/>
              <a:t>,</a:t>
            </a:r>
            <a:r>
              <a:rPr lang="zh-CN" altLang="en-US" dirty="0"/>
              <a:t> </a:t>
            </a:r>
            <a:r>
              <a:rPr lang="en-US" altLang="zh-CN" dirty="0" err="1"/>
              <a:t>wfmash</a:t>
            </a:r>
            <a:r>
              <a:rPr lang="en-US" altLang="zh-CN" baseline="30000" dirty="0"/>
              <a:t>[4]</a:t>
            </a:r>
            <a:r>
              <a:rPr lang="en-US" altLang="zh-CN" dirty="0"/>
              <a:t>,</a:t>
            </a:r>
            <a:r>
              <a:rPr lang="zh-CN" altLang="en-US" dirty="0"/>
              <a:t> </a:t>
            </a:r>
            <a:r>
              <a:rPr lang="en-US" altLang="zh-CN" dirty="0" err="1"/>
              <a:t>FastGA</a:t>
            </a:r>
            <a:r>
              <a:rPr lang="en-US" altLang="zh-CN" baseline="30000" dirty="0"/>
              <a:t>[5]</a:t>
            </a:r>
            <a:r>
              <a:rPr lang="en-US" altLang="zh-CN" dirty="0"/>
              <a:t>,</a:t>
            </a:r>
            <a:r>
              <a:rPr lang="zh-CN" altLang="en-US" dirty="0"/>
              <a:t> </a:t>
            </a:r>
            <a:r>
              <a:rPr lang="en-US" altLang="zh-CN" dirty="0"/>
              <a:t>minimap2</a:t>
            </a:r>
          </a:p>
          <a:p>
            <a:r>
              <a:rPr lang="en-US" altLang="zh-CN" dirty="0"/>
              <a:t>Similarity</a:t>
            </a:r>
            <a:r>
              <a:rPr lang="zh-CN" altLang="en-US" dirty="0"/>
              <a:t> </a:t>
            </a:r>
            <a:r>
              <a:rPr lang="en-US" altLang="zh-CN" dirty="0"/>
              <a:t>Search</a:t>
            </a:r>
          </a:p>
          <a:p>
            <a:pPr lvl="1"/>
            <a:r>
              <a:rPr lang="en-US" altLang="zh-CN" dirty="0"/>
              <a:t>A</a:t>
            </a:r>
            <a:r>
              <a:rPr lang="zh-CN" altLang="en-US" dirty="0"/>
              <a:t> </a:t>
            </a:r>
            <a:r>
              <a:rPr lang="en-US" altLang="zh-CN" dirty="0"/>
              <a:t>few</a:t>
            </a:r>
            <a:r>
              <a:rPr lang="zh-CN" altLang="en-US" dirty="0"/>
              <a:t> </a:t>
            </a:r>
            <a:r>
              <a:rPr lang="en-US" altLang="zh-CN" dirty="0"/>
              <a:t>query</a:t>
            </a:r>
            <a:r>
              <a:rPr lang="zh-CN" altLang="en-US" dirty="0"/>
              <a:t> </a:t>
            </a:r>
            <a:r>
              <a:rPr lang="en-US" altLang="zh-CN" dirty="0"/>
              <a:t>sequences</a:t>
            </a:r>
            <a:r>
              <a:rPr lang="zh-CN" altLang="en-US" dirty="0"/>
              <a:t> </a:t>
            </a:r>
            <a:r>
              <a:rPr lang="en-US" altLang="zh-CN" dirty="0"/>
              <a:t>vs.</a:t>
            </a:r>
            <a:r>
              <a:rPr lang="zh-CN" altLang="en-US" dirty="0"/>
              <a:t> </a:t>
            </a:r>
            <a:r>
              <a:rPr lang="en-US" altLang="zh-CN" dirty="0"/>
              <a:t>a</a:t>
            </a:r>
            <a:r>
              <a:rPr lang="zh-CN" altLang="en-US" dirty="0"/>
              <a:t> </a:t>
            </a:r>
            <a:r>
              <a:rPr lang="en-US" altLang="zh-CN" dirty="0"/>
              <a:t>huge</a:t>
            </a:r>
            <a:r>
              <a:rPr lang="zh-CN" altLang="en-US" dirty="0"/>
              <a:t> </a:t>
            </a:r>
            <a:r>
              <a:rPr lang="en-US" altLang="zh-CN" dirty="0"/>
              <a:t>database</a:t>
            </a:r>
          </a:p>
          <a:p>
            <a:pPr lvl="1"/>
            <a:r>
              <a:rPr lang="en-US" altLang="zh-CN" dirty="0"/>
              <a:t>Aligner:</a:t>
            </a:r>
            <a:r>
              <a:rPr lang="zh-CN" altLang="en-US" dirty="0"/>
              <a:t> </a:t>
            </a:r>
            <a:r>
              <a:rPr lang="en-US" altLang="zh-CN" dirty="0"/>
              <a:t>BLAST</a:t>
            </a:r>
            <a:r>
              <a:rPr lang="en-US" altLang="zh-CN" baseline="30000" dirty="0"/>
              <a:t>[6]</a:t>
            </a:r>
            <a:r>
              <a:rPr lang="en-US" altLang="zh-CN" dirty="0"/>
              <a:t>,</a:t>
            </a:r>
            <a:r>
              <a:rPr lang="zh-CN" altLang="en-US" dirty="0"/>
              <a:t> </a:t>
            </a:r>
            <a:r>
              <a:rPr lang="en-US" altLang="zh-CN" dirty="0"/>
              <a:t>MMseqs2</a:t>
            </a:r>
            <a:r>
              <a:rPr lang="en-US" altLang="zh-CN" baseline="30000" dirty="0"/>
              <a:t>[7]</a:t>
            </a:r>
            <a:endParaRPr lang="en-US" altLang="zh-CN" dirty="0"/>
          </a:p>
          <a:p>
            <a:pPr lvl="1"/>
            <a:endParaRPr lang="en-US" dirty="0"/>
          </a:p>
        </p:txBody>
      </p:sp>
      <p:sp>
        <p:nvSpPr>
          <p:cNvPr id="4" name="Title 3">
            <a:extLst>
              <a:ext uri="{FF2B5EF4-FFF2-40B4-BE49-F238E27FC236}">
                <a16:creationId xmlns:a16="http://schemas.microsoft.com/office/drawing/2014/main" id="{C2681EA0-D291-8CBD-AE98-03852C59B611}"/>
              </a:ext>
            </a:extLst>
          </p:cNvPr>
          <p:cNvSpPr>
            <a:spLocks noGrp="1"/>
          </p:cNvSpPr>
          <p:nvPr>
            <p:ph type="title"/>
          </p:nvPr>
        </p:nvSpPr>
        <p:spPr/>
        <p:txBody>
          <a:bodyPr/>
          <a:lstStyle/>
          <a:p>
            <a:r>
              <a:rPr lang="en-US" altLang="zh-CN" dirty="0"/>
              <a:t>Tasks</a:t>
            </a:r>
            <a:r>
              <a:rPr lang="zh-CN" altLang="en-US" dirty="0"/>
              <a:t> </a:t>
            </a:r>
            <a:r>
              <a:rPr lang="en-US" altLang="zh-CN" dirty="0"/>
              <a:t>Related</a:t>
            </a:r>
            <a:r>
              <a:rPr lang="zh-CN" altLang="en-US" dirty="0"/>
              <a:t> </a:t>
            </a:r>
            <a:r>
              <a:rPr lang="en-US" altLang="zh-CN" dirty="0"/>
              <a:t>to</a:t>
            </a:r>
            <a:r>
              <a:rPr lang="zh-CN" altLang="en-US" dirty="0"/>
              <a:t> </a:t>
            </a:r>
            <a:r>
              <a:rPr lang="en-US" altLang="zh-CN" dirty="0"/>
              <a:t>Sequence</a:t>
            </a:r>
            <a:r>
              <a:rPr lang="zh-CN" altLang="en-US" dirty="0"/>
              <a:t> </a:t>
            </a:r>
            <a:r>
              <a:rPr lang="en-US" altLang="zh-CN" dirty="0"/>
              <a:t>Alignment</a:t>
            </a:r>
            <a:endParaRPr lang="en-US" dirty="0"/>
          </a:p>
        </p:txBody>
      </p:sp>
      <p:sp>
        <p:nvSpPr>
          <p:cNvPr id="6" name="TextBox 5">
            <a:extLst>
              <a:ext uri="{FF2B5EF4-FFF2-40B4-BE49-F238E27FC236}">
                <a16:creationId xmlns:a16="http://schemas.microsoft.com/office/drawing/2014/main" id="{405C49B3-C919-5B27-FDE2-1F043512B1B8}"/>
              </a:ext>
            </a:extLst>
          </p:cNvPr>
          <p:cNvSpPr txBox="1"/>
          <p:nvPr/>
        </p:nvSpPr>
        <p:spPr>
          <a:xfrm>
            <a:off x="248280" y="5898712"/>
            <a:ext cx="8230138" cy="954107"/>
          </a:xfrm>
          <a:prstGeom prst="rect">
            <a:avLst/>
          </a:prstGeom>
          <a:noFill/>
        </p:spPr>
        <p:txBody>
          <a:bodyPr wrap="none" rtlCol="0">
            <a:spAutoFit/>
          </a:bodyPr>
          <a:lstStyle/>
          <a:p>
            <a:r>
              <a:rPr lang="en-US" sz="800" dirty="0">
                <a:latin typeface="Helvetica" pitchFamily="2" charset="0"/>
              </a:rPr>
              <a:t>[1] Li, H. (2013). Aligning sequence reads, clone sequences and assembly contigs with BWA-MEM. </a:t>
            </a:r>
            <a:r>
              <a:rPr lang="en-US" sz="800" i="1" dirty="0" err="1">
                <a:latin typeface="Helvetica" pitchFamily="2" charset="0"/>
              </a:rPr>
              <a:t>arXiv</a:t>
            </a:r>
            <a:r>
              <a:rPr lang="en-US" sz="800" i="1" dirty="0">
                <a:latin typeface="Helvetica" pitchFamily="2" charset="0"/>
              </a:rPr>
              <a:t> preprint arXiv:1303.3997</a:t>
            </a:r>
            <a:r>
              <a:rPr lang="en-US" sz="800" dirty="0">
                <a:latin typeface="Helvetica" pitchFamily="2" charset="0"/>
              </a:rPr>
              <a:t>.</a:t>
            </a:r>
          </a:p>
          <a:p>
            <a:r>
              <a:rPr lang="en-US" sz="800" dirty="0">
                <a:uFillTx/>
                <a:latin typeface="Helvetica" pitchFamily="2" charset="0"/>
                <a:cs typeface="Helvetica"/>
              </a:rPr>
              <a:t>[2] Li, H. (2018). Minimap2: pairwise alignment for nucleotide sequences. Bioinformatics, 34(18), 3094-3100.</a:t>
            </a:r>
          </a:p>
          <a:p>
            <a:r>
              <a:rPr lang="en-US" sz="800" dirty="0">
                <a:latin typeface="Helvetica" pitchFamily="2" charset="0"/>
                <a:cs typeface="Helvetica"/>
              </a:rPr>
              <a:t>[3] https://</a:t>
            </a:r>
            <a:r>
              <a:rPr lang="en-US" sz="800" dirty="0" err="1">
                <a:latin typeface="Helvetica" pitchFamily="2" charset="0"/>
                <a:cs typeface="Helvetica"/>
              </a:rPr>
              <a:t>lastz.github.io</a:t>
            </a:r>
            <a:r>
              <a:rPr lang="en-US" sz="800" dirty="0">
                <a:latin typeface="Helvetica" pitchFamily="2" charset="0"/>
                <a:cs typeface="Helvetica"/>
              </a:rPr>
              <a:t>/</a:t>
            </a:r>
            <a:r>
              <a:rPr lang="en-US" sz="800" dirty="0" err="1">
                <a:latin typeface="Helvetica" pitchFamily="2" charset="0"/>
                <a:cs typeface="Helvetica"/>
              </a:rPr>
              <a:t>lastz</a:t>
            </a:r>
            <a:r>
              <a:rPr lang="en-US" sz="800" dirty="0">
                <a:latin typeface="Helvetica" pitchFamily="2" charset="0"/>
                <a:cs typeface="Helvetica"/>
              </a:rPr>
              <a:t>/</a:t>
            </a:r>
            <a:br>
              <a:rPr lang="en-US" sz="800" dirty="0">
                <a:latin typeface="Helvetica" pitchFamily="2" charset="0"/>
                <a:cs typeface="Helvetica"/>
              </a:rPr>
            </a:br>
            <a:r>
              <a:rPr lang="en-US" sz="800" dirty="0">
                <a:latin typeface="Helvetica" pitchFamily="2" charset="0"/>
                <a:cs typeface="Helvetica"/>
              </a:rPr>
              <a:t>[4] </a:t>
            </a:r>
            <a:r>
              <a:rPr lang="en-US" sz="800" dirty="0">
                <a:latin typeface="Helvetica" pitchFamily="2" charset="0"/>
                <a:cs typeface="Helvetica"/>
                <a:hlinkClick r:id="rId2"/>
              </a:rPr>
              <a:t>https://github.com/waveygang/wfmash</a:t>
            </a:r>
            <a:br>
              <a:rPr lang="en-US" sz="800" dirty="0">
                <a:latin typeface="Helvetica" pitchFamily="2" charset="0"/>
                <a:cs typeface="Helvetica"/>
              </a:rPr>
            </a:br>
            <a:r>
              <a:rPr lang="en-US" sz="800" dirty="0">
                <a:latin typeface="Helvetica" pitchFamily="2" charset="0"/>
                <a:cs typeface="Helvetica"/>
              </a:rPr>
              <a:t>[5] Myers Jr, E. W., Durbin, R., &amp; Zhou, C. (2025). </a:t>
            </a:r>
            <a:r>
              <a:rPr lang="en-US" sz="800" dirty="0" err="1">
                <a:latin typeface="Helvetica" pitchFamily="2" charset="0"/>
                <a:cs typeface="Helvetica"/>
              </a:rPr>
              <a:t>FastGA</a:t>
            </a:r>
            <a:r>
              <a:rPr lang="en-US" sz="800" dirty="0">
                <a:latin typeface="Helvetica" pitchFamily="2" charset="0"/>
                <a:cs typeface="Helvetica"/>
              </a:rPr>
              <a:t>: Fast Genome Alignment. </a:t>
            </a:r>
            <a:r>
              <a:rPr lang="en-US" sz="800" dirty="0" err="1">
                <a:latin typeface="Helvetica" pitchFamily="2" charset="0"/>
                <a:cs typeface="Helvetica"/>
              </a:rPr>
              <a:t>bioRxiv</a:t>
            </a:r>
            <a:r>
              <a:rPr lang="en-US" sz="800" dirty="0">
                <a:latin typeface="Helvetica" pitchFamily="2" charset="0"/>
                <a:cs typeface="Helvetica"/>
              </a:rPr>
              <a:t>, 2025-06.</a:t>
            </a:r>
            <a:br>
              <a:rPr lang="en-US" sz="800" dirty="0">
                <a:latin typeface="Helvetica" pitchFamily="2" charset="0"/>
                <a:cs typeface="Helvetica"/>
              </a:rPr>
            </a:br>
            <a:r>
              <a:rPr lang="en-US" sz="800" dirty="0">
                <a:latin typeface="Helvetica" pitchFamily="2" charset="0"/>
                <a:cs typeface="Helvetica"/>
              </a:rPr>
              <a:t>[6] </a:t>
            </a:r>
            <a:r>
              <a:rPr lang="en-US" sz="800" dirty="0">
                <a:latin typeface="Helvetica" pitchFamily="2" charset="0"/>
                <a:cs typeface="Helvetica"/>
                <a:hlinkClick r:id="rId3"/>
              </a:rPr>
              <a:t>https://blast.ncbi.nlm.nih.gov/Blast.cgi</a:t>
            </a:r>
            <a:br>
              <a:rPr lang="en-US" sz="800" dirty="0">
                <a:latin typeface="Helvetica" pitchFamily="2" charset="0"/>
                <a:cs typeface="Helvetica"/>
              </a:rPr>
            </a:br>
            <a:r>
              <a:rPr lang="en-US" sz="800" dirty="0">
                <a:latin typeface="Helvetica" pitchFamily="2" charset="0"/>
                <a:cs typeface="Helvetica"/>
              </a:rPr>
              <a:t>[7] </a:t>
            </a:r>
            <a:r>
              <a:rPr lang="en-US" sz="800" dirty="0" err="1">
                <a:latin typeface="Helvetica" pitchFamily="2" charset="0"/>
                <a:cs typeface="Helvetica"/>
              </a:rPr>
              <a:t>Steinegger</a:t>
            </a:r>
            <a:r>
              <a:rPr lang="en-US" sz="800" dirty="0">
                <a:latin typeface="Helvetica" pitchFamily="2" charset="0"/>
                <a:cs typeface="Helvetica"/>
              </a:rPr>
              <a:t>, M., &amp; </a:t>
            </a:r>
            <a:r>
              <a:rPr lang="en-US" sz="800" dirty="0" err="1">
                <a:latin typeface="Helvetica" pitchFamily="2" charset="0"/>
                <a:cs typeface="Helvetica"/>
              </a:rPr>
              <a:t>Söding</a:t>
            </a:r>
            <a:r>
              <a:rPr lang="en-US" sz="800" dirty="0">
                <a:latin typeface="Helvetica" pitchFamily="2" charset="0"/>
                <a:cs typeface="Helvetica"/>
              </a:rPr>
              <a:t>, J. (2017). MMseqs2 enables sensitive protein sequence searching for the analysis of massive data sets. Nature biotechnology, 35(11), 1026-1028.</a:t>
            </a:r>
            <a:endParaRPr lang="en-US" sz="800" dirty="0">
              <a:uFillTx/>
              <a:latin typeface="Helvetica" pitchFamily="2" charset="0"/>
              <a:cs typeface="Helvetica"/>
            </a:endParaRPr>
          </a:p>
        </p:txBody>
      </p:sp>
    </p:spTree>
    <p:extLst>
      <p:ext uri="{BB962C8B-B14F-4D97-AF65-F5344CB8AC3E}">
        <p14:creationId xmlns:p14="http://schemas.microsoft.com/office/powerpoint/2010/main" val="2194137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EE3627-0763-4F0A-6FC7-AB43E3A5C17F}"/>
              </a:ext>
            </a:extLst>
          </p:cNvPr>
          <p:cNvSpPr>
            <a:spLocks noGrp="1"/>
          </p:cNvSpPr>
          <p:nvPr>
            <p:ph type="sldNum" sz="quarter" idx="12"/>
          </p:nvPr>
        </p:nvSpPr>
        <p:spPr/>
        <p:txBody>
          <a:bodyPr/>
          <a:lstStyle/>
          <a:p>
            <a:fld id="{6200E4C3-34F6-DE45-A4C6-A49633FDBADA}" type="slidenum">
              <a:rPr lang="en-US" smtClean="0"/>
              <a:t>4</a:t>
            </a:fld>
            <a:endParaRPr lang="en-US"/>
          </a:p>
        </p:txBody>
      </p:sp>
      <p:sp>
        <p:nvSpPr>
          <p:cNvPr id="3" name="Content Placeholder 2">
            <a:extLst>
              <a:ext uri="{FF2B5EF4-FFF2-40B4-BE49-F238E27FC236}">
                <a16:creationId xmlns:a16="http://schemas.microsoft.com/office/drawing/2014/main" id="{A7874B68-76AF-0A7A-A516-22968D6B3EB6}"/>
              </a:ext>
            </a:extLst>
          </p:cNvPr>
          <p:cNvSpPr>
            <a:spLocks noGrp="1"/>
          </p:cNvSpPr>
          <p:nvPr>
            <p:ph idx="1"/>
          </p:nvPr>
        </p:nvSpPr>
        <p:spPr/>
        <p:txBody>
          <a:bodyPr/>
          <a:lstStyle/>
          <a:p>
            <a:r>
              <a:rPr lang="en-US" altLang="zh-CN" dirty="0"/>
              <a:t>Mostly</a:t>
            </a:r>
            <a:r>
              <a:rPr lang="zh-CN" altLang="en-US" dirty="0"/>
              <a:t> </a:t>
            </a:r>
            <a:r>
              <a:rPr lang="en-US" altLang="zh-CN" dirty="0"/>
              <a:t>f</a:t>
            </a:r>
            <a:r>
              <a:rPr lang="en-US" dirty="0"/>
              <a:t>ollow the seed-</a:t>
            </a:r>
            <a:r>
              <a:rPr lang="en-US" altLang="zh-CN" dirty="0"/>
              <a:t>chain-</a:t>
            </a:r>
            <a:r>
              <a:rPr lang="en-US" dirty="0"/>
              <a:t>extend styl</a:t>
            </a:r>
            <a:r>
              <a:rPr lang="en-US" altLang="zh-CN" dirty="0"/>
              <a:t>e</a:t>
            </a:r>
          </a:p>
          <a:p>
            <a:pPr lvl="1"/>
            <a:r>
              <a:rPr lang="en-US" altLang="zh-CN" dirty="0"/>
              <a:t>a</a:t>
            </a:r>
            <a:r>
              <a:rPr lang="zh-CN" altLang="en-US" dirty="0"/>
              <a:t> </a:t>
            </a:r>
            <a:r>
              <a:rPr lang="en-US" altLang="zh-CN" dirty="0"/>
              <a:t>filter</a:t>
            </a:r>
            <a:r>
              <a:rPr lang="zh-CN" altLang="en-US" dirty="0"/>
              <a:t> </a:t>
            </a:r>
            <a:r>
              <a:rPr lang="en-US" altLang="zh-CN" dirty="0"/>
              <a:t>to</a:t>
            </a:r>
            <a:r>
              <a:rPr lang="zh-CN" altLang="en-US" dirty="0"/>
              <a:t> </a:t>
            </a:r>
            <a:r>
              <a:rPr lang="en-US" altLang="zh-CN" dirty="0"/>
              <a:t>limit</a:t>
            </a:r>
            <a:r>
              <a:rPr lang="zh-CN" altLang="en-US" dirty="0"/>
              <a:t> </a:t>
            </a:r>
            <a:r>
              <a:rPr lang="en-US" altLang="zh-CN" dirty="0"/>
              <a:t>the</a:t>
            </a:r>
            <a:r>
              <a:rPr lang="zh-CN" altLang="en-US" dirty="0"/>
              <a:t> </a:t>
            </a:r>
            <a:r>
              <a:rPr lang="en-US" altLang="zh-CN" dirty="0"/>
              <a:t>search</a:t>
            </a:r>
            <a:r>
              <a:rPr lang="zh-CN" altLang="en-US" dirty="0"/>
              <a:t> </a:t>
            </a:r>
            <a:r>
              <a:rPr lang="en-US" altLang="zh-CN" dirty="0"/>
              <a:t>space</a:t>
            </a:r>
            <a:r>
              <a:rPr lang="zh-CN" altLang="en-US" dirty="0"/>
              <a:t> </a:t>
            </a:r>
            <a:r>
              <a:rPr lang="en-US" altLang="zh-CN" dirty="0"/>
              <a:t>+</a:t>
            </a:r>
            <a:r>
              <a:rPr lang="zh-CN" altLang="en-US" dirty="0"/>
              <a:t> </a:t>
            </a:r>
            <a:r>
              <a:rPr lang="en-US" altLang="zh-CN" dirty="0"/>
              <a:t>a</a:t>
            </a:r>
            <a:r>
              <a:rPr lang="zh-CN" altLang="en-US" dirty="0"/>
              <a:t> </a:t>
            </a:r>
            <a:r>
              <a:rPr lang="en-US" altLang="zh-CN" dirty="0"/>
              <a:t>deterministic</a:t>
            </a:r>
            <a:r>
              <a:rPr lang="zh-CN" altLang="en-US" dirty="0"/>
              <a:t> </a:t>
            </a:r>
            <a:r>
              <a:rPr lang="en-US" altLang="zh-CN" dirty="0"/>
              <a:t>alignment</a:t>
            </a:r>
            <a:r>
              <a:rPr lang="zh-CN" altLang="en-US" dirty="0"/>
              <a:t> </a:t>
            </a:r>
            <a:r>
              <a:rPr lang="en-US" altLang="zh-CN" dirty="0"/>
              <a:t>algorithm</a:t>
            </a:r>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Key </a:t>
            </a:r>
            <a:r>
              <a:rPr lang="en-US" altLang="zh-CN" dirty="0"/>
              <a:t>Dynamic</a:t>
            </a:r>
            <a:r>
              <a:rPr lang="zh-CN" altLang="en-US" dirty="0"/>
              <a:t> </a:t>
            </a:r>
            <a:r>
              <a:rPr lang="en-US" altLang="zh-CN" dirty="0"/>
              <a:t>Programming</a:t>
            </a:r>
            <a:r>
              <a:rPr lang="zh-CN" altLang="en-US" dirty="0"/>
              <a:t> </a:t>
            </a:r>
            <a:r>
              <a:rPr lang="en-US" altLang="zh-CN" dirty="0"/>
              <a:t>(DP)</a:t>
            </a:r>
            <a:r>
              <a:rPr lang="en-US" dirty="0"/>
              <a:t> kernel</a:t>
            </a:r>
            <a:r>
              <a:rPr lang="en-US" altLang="zh-CN" dirty="0"/>
              <a:t>s</a:t>
            </a:r>
            <a:r>
              <a:rPr lang="en-US" dirty="0"/>
              <a:t> used </a:t>
            </a:r>
            <a:r>
              <a:rPr lang="en-US" altLang="zh-CN" dirty="0"/>
              <a:t>are</a:t>
            </a:r>
            <a:r>
              <a:rPr lang="zh-CN" altLang="en-US" dirty="0"/>
              <a:t> </a:t>
            </a:r>
            <a:r>
              <a:rPr lang="en-US" altLang="zh-CN" dirty="0"/>
              <a:t>different</a:t>
            </a:r>
            <a:r>
              <a:rPr lang="zh-CN" altLang="en-US" dirty="0"/>
              <a:t> </a:t>
            </a:r>
            <a:r>
              <a:rPr lang="en-US" altLang="zh-CN" dirty="0"/>
              <a:t>as</a:t>
            </a:r>
            <a:r>
              <a:rPr lang="zh-CN" altLang="en-US" dirty="0"/>
              <a:t> </a:t>
            </a:r>
            <a:r>
              <a:rPr lang="en-US" altLang="zh-CN" dirty="0"/>
              <a:t>well</a:t>
            </a:r>
            <a:endParaRPr lang="en-US" dirty="0"/>
          </a:p>
          <a:p>
            <a:endParaRPr lang="en-US" dirty="0"/>
          </a:p>
        </p:txBody>
      </p:sp>
      <p:sp>
        <p:nvSpPr>
          <p:cNvPr id="4" name="Title 3">
            <a:extLst>
              <a:ext uri="{FF2B5EF4-FFF2-40B4-BE49-F238E27FC236}">
                <a16:creationId xmlns:a16="http://schemas.microsoft.com/office/drawing/2014/main" id="{3E7A631D-1D1F-6DA9-10ED-3A13DECD35A1}"/>
              </a:ext>
            </a:extLst>
          </p:cNvPr>
          <p:cNvSpPr>
            <a:spLocks noGrp="1"/>
          </p:cNvSpPr>
          <p:nvPr>
            <p:ph type="title"/>
          </p:nvPr>
        </p:nvSpPr>
        <p:spPr/>
        <p:txBody>
          <a:bodyPr/>
          <a:lstStyle/>
          <a:p>
            <a:r>
              <a:rPr lang="en-US" altLang="zh-CN" dirty="0"/>
              <a:t>Each</a:t>
            </a:r>
            <a:r>
              <a:rPr lang="zh-CN" altLang="en-US" dirty="0"/>
              <a:t> </a:t>
            </a:r>
            <a:r>
              <a:rPr lang="en-US" altLang="zh-CN" dirty="0"/>
              <a:t>Aligner</a:t>
            </a:r>
            <a:r>
              <a:rPr lang="zh-CN" altLang="en-US" dirty="0"/>
              <a:t> </a:t>
            </a:r>
            <a:r>
              <a:rPr lang="en-US" altLang="zh-CN" dirty="0"/>
              <a:t>is</a:t>
            </a:r>
            <a:r>
              <a:rPr lang="zh-CN" altLang="en-US" dirty="0"/>
              <a:t> </a:t>
            </a:r>
            <a:r>
              <a:rPr lang="en-US" altLang="zh-CN" dirty="0"/>
              <a:t>a</a:t>
            </a:r>
            <a:r>
              <a:rPr lang="zh-CN" altLang="en-US" dirty="0"/>
              <a:t> </a:t>
            </a:r>
            <a:r>
              <a:rPr lang="en-US" altLang="zh-CN" dirty="0"/>
              <a:t>Pipeline</a:t>
            </a:r>
            <a:endParaRPr lang="en-US" dirty="0"/>
          </a:p>
        </p:txBody>
      </p:sp>
      <p:pic>
        <p:nvPicPr>
          <p:cNvPr id="6" name="Picture 5">
            <a:extLst>
              <a:ext uri="{FF2B5EF4-FFF2-40B4-BE49-F238E27FC236}">
                <a16:creationId xmlns:a16="http://schemas.microsoft.com/office/drawing/2014/main" id="{B08F328C-BE35-381B-6106-FA6EAC68A251}"/>
              </a:ext>
            </a:extLst>
          </p:cNvPr>
          <p:cNvPicPr>
            <a:picLocks noChangeAspect="1"/>
          </p:cNvPicPr>
          <p:nvPr/>
        </p:nvPicPr>
        <p:blipFill>
          <a:blip r:embed="rId2"/>
          <a:stretch>
            <a:fillRect/>
          </a:stretch>
        </p:blipFill>
        <p:spPr>
          <a:xfrm>
            <a:off x="2207276" y="1938792"/>
            <a:ext cx="7139924" cy="2636437"/>
          </a:xfrm>
          <a:prstGeom prst="rect">
            <a:avLst/>
          </a:prstGeom>
        </p:spPr>
      </p:pic>
      <p:sp>
        <p:nvSpPr>
          <p:cNvPr id="7" name="TextBox 6">
            <a:extLst>
              <a:ext uri="{FF2B5EF4-FFF2-40B4-BE49-F238E27FC236}">
                <a16:creationId xmlns:a16="http://schemas.microsoft.com/office/drawing/2014/main" id="{A5E86063-5434-0D96-12A2-978699B8E86D}"/>
              </a:ext>
            </a:extLst>
          </p:cNvPr>
          <p:cNvSpPr txBox="1"/>
          <p:nvPr/>
        </p:nvSpPr>
        <p:spPr>
          <a:xfrm>
            <a:off x="260391" y="6334673"/>
            <a:ext cx="7614585" cy="215444"/>
          </a:xfrm>
          <a:prstGeom prst="rect">
            <a:avLst/>
          </a:prstGeom>
          <a:noFill/>
        </p:spPr>
        <p:txBody>
          <a:bodyPr wrap="none" rtlCol="0">
            <a:spAutoFit/>
          </a:bodyPr>
          <a:lstStyle/>
          <a:p>
            <a:r>
              <a:rPr lang="en-US" sz="800" dirty="0">
                <a:latin typeface="Helvetica" pitchFamily="2" charset="0"/>
              </a:rPr>
              <a:t>[1] Chandra, G., </a:t>
            </a:r>
            <a:r>
              <a:rPr lang="en-US" sz="800" dirty="0" err="1">
                <a:latin typeface="Helvetica" pitchFamily="2" charset="0"/>
              </a:rPr>
              <a:t>Vasimuddin</a:t>
            </a:r>
            <a:r>
              <a:rPr lang="en-US" sz="800" dirty="0">
                <a:latin typeface="Helvetica" pitchFamily="2" charset="0"/>
              </a:rPr>
              <a:t>, M., Misra, S., &amp; Jain, C. (2024). Accelerating whole-genome alignment in the age of complete genome assemblies. </a:t>
            </a:r>
            <a:r>
              <a:rPr lang="en-US" sz="800" dirty="0" err="1">
                <a:latin typeface="Helvetica" pitchFamily="2" charset="0"/>
              </a:rPr>
              <a:t>bioRxiv</a:t>
            </a:r>
            <a:r>
              <a:rPr lang="en-US" sz="800" dirty="0">
                <a:latin typeface="Helvetica" pitchFamily="2" charset="0"/>
              </a:rPr>
              <a:t>, 2024-11.</a:t>
            </a:r>
            <a:endParaRPr lang="en-US" sz="800" dirty="0">
              <a:uFillTx/>
              <a:latin typeface="Helvetica" pitchFamily="2" charset="0"/>
              <a:cs typeface="Helvetica"/>
            </a:endParaRPr>
          </a:p>
        </p:txBody>
      </p:sp>
    </p:spTree>
    <p:extLst>
      <p:ext uri="{BB962C8B-B14F-4D97-AF65-F5344CB8AC3E}">
        <p14:creationId xmlns:p14="http://schemas.microsoft.com/office/powerpoint/2010/main" val="3927399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21E658-BB43-9897-3E74-860CA388896B}"/>
              </a:ext>
            </a:extLst>
          </p:cNvPr>
          <p:cNvSpPr>
            <a:spLocks noGrp="1"/>
          </p:cNvSpPr>
          <p:nvPr>
            <p:ph type="sldNum" sz="quarter" idx="12"/>
          </p:nvPr>
        </p:nvSpPr>
        <p:spPr/>
        <p:txBody>
          <a:bodyPr/>
          <a:lstStyle/>
          <a:p>
            <a:fld id="{6200E4C3-34F6-DE45-A4C6-A49633FDBADA}" type="slidenum">
              <a:rPr lang="en-US" smtClean="0"/>
              <a:t>5</a:t>
            </a:fld>
            <a:endParaRPr lang="en-US"/>
          </a:p>
        </p:txBody>
      </p:sp>
      <p:graphicFrame>
        <p:nvGraphicFramePr>
          <p:cNvPr id="5" name="Content Placeholder 4">
            <a:extLst>
              <a:ext uri="{FF2B5EF4-FFF2-40B4-BE49-F238E27FC236}">
                <a16:creationId xmlns:a16="http://schemas.microsoft.com/office/drawing/2014/main" id="{4BE50BF2-5043-AD3D-CB6F-991747BDEEB4}"/>
              </a:ext>
            </a:extLst>
          </p:cNvPr>
          <p:cNvGraphicFramePr>
            <a:graphicFrameLocks noGrp="1"/>
          </p:cNvGraphicFramePr>
          <p:nvPr>
            <p:ph idx="1"/>
            <p:extLst>
              <p:ext uri="{D42A27DB-BD31-4B8C-83A1-F6EECF244321}">
                <p14:modId xmlns:p14="http://schemas.microsoft.com/office/powerpoint/2010/main" val="1440061083"/>
              </p:ext>
            </p:extLst>
          </p:nvPr>
        </p:nvGraphicFramePr>
        <p:xfrm>
          <a:off x="643927" y="794417"/>
          <a:ext cx="7882399" cy="4219645"/>
        </p:xfrm>
        <a:graphic>
          <a:graphicData uri="http://schemas.openxmlformats.org/drawingml/2006/table">
            <a:tbl>
              <a:tblPr firstRow="1" bandRow="1">
                <a:tableStyleId>{5C22544A-7EE6-4342-B048-85BDC9FD1C3A}</a:tableStyleId>
              </a:tblPr>
              <a:tblGrid>
                <a:gridCol w="1996081">
                  <a:extLst>
                    <a:ext uri="{9D8B030D-6E8A-4147-A177-3AD203B41FA5}">
                      <a16:colId xmlns:a16="http://schemas.microsoft.com/office/drawing/2014/main" val="1743068430"/>
                    </a:ext>
                  </a:extLst>
                </a:gridCol>
                <a:gridCol w="2943159">
                  <a:extLst>
                    <a:ext uri="{9D8B030D-6E8A-4147-A177-3AD203B41FA5}">
                      <a16:colId xmlns:a16="http://schemas.microsoft.com/office/drawing/2014/main" val="603844268"/>
                    </a:ext>
                  </a:extLst>
                </a:gridCol>
                <a:gridCol w="2943159">
                  <a:extLst>
                    <a:ext uri="{9D8B030D-6E8A-4147-A177-3AD203B41FA5}">
                      <a16:colId xmlns:a16="http://schemas.microsoft.com/office/drawing/2014/main" val="335863102"/>
                    </a:ext>
                  </a:extLst>
                </a:gridCol>
              </a:tblGrid>
              <a:tr h="495122">
                <a:tc>
                  <a:txBody>
                    <a:bodyPr/>
                    <a:lstStyle/>
                    <a:p>
                      <a:r>
                        <a:rPr lang="en-US" altLang="zh-CN" sz="1600" dirty="0"/>
                        <a:t>Aligner</a:t>
                      </a:r>
                      <a:r>
                        <a:rPr lang="zh-CN" altLang="en-US" sz="1600" dirty="0"/>
                        <a:t> </a:t>
                      </a:r>
                      <a:r>
                        <a:rPr lang="en-US" altLang="zh-CN" sz="1600" dirty="0"/>
                        <a:t>Tool</a:t>
                      </a:r>
                      <a:endParaRPr lang="en-US" sz="1600" dirty="0"/>
                    </a:p>
                  </a:txBody>
                  <a:tcPr marL="97186" marR="97186" marT="48592" marB="48592"/>
                </a:tc>
                <a:tc>
                  <a:txBody>
                    <a:bodyPr/>
                    <a:lstStyle/>
                    <a:p>
                      <a:r>
                        <a:rPr lang="en-US" altLang="zh-CN" sz="1600" dirty="0"/>
                        <a:t>Key</a:t>
                      </a:r>
                      <a:r>
                        <a:rPr lang="zh-CN" altLang="en-US" sz="1600" dirty="0"/>
                        <a:t> </a:t>
                      </a:r>
                      <a:r>
                        <a:rPr lang="en-US" altLang="zh-CN" sz="1600" dirty="0"/>
                        <a:t>DP</a:t>
                      </a:r>
                      <a:r>
                        <a:rPr lang="zh-CN" altLang="en-US" sz="1600" dirty="0"/>
                        <a:t> </a:t>
                      </a:r>
                      <a:r>
                        <a:rPr lang="en-US" altLang="zh-CN" sz="1600" dirty="0"/>
                        <a:t>Kernel</a:t>
                      </a:r>
                      <a:r>
                        <a:rPr lang="zh-CN" altLang="en-US" sz="1600" dirty="0"/>
                        <a:t> </a:t>
                      </a:r>
                      <a:r>
                        <a:rPr lang="en-US" altLang="zh-CN" sz="1600" dirty="0"/>
                        <a:t>Used</a:t>
                      </a:r>
                      <a:endParaRPr lang="en-US" sz="1600" dirty="0"/>
                    </a:p>
                  </a:txBody>
                  <a:tcPr marL="97186" marR="97186" marT="48592" marB="48592"/>
                </a:tc>
                <a:tc>
                  <a:txBody>
                    <a:bodyPr/>
                    <a:lstStyle/>
                    <a:p>
                      <a:r>
                        <a:rPr lang="en-US" sz="1600" dirty="0"/>
                        <a:t>GPU Acceleration Work</a:t>
                      </a:r>
                    </a:p>
                  </a:txBody>
                  <a:tcPr marL="97186" marR="97186" marT="48592" marB="48592"/>
                </a:tc>
                <a:extLst>
                  <a:ext uri="{0D108BD9-81ED-4DB2-BD59-A6C34878D82A}">
                    <a16:rowId xmlns:a16="http://schemas.microsoft.com/office/drawing/2014/main" val="2788690136"/>
                  </a:ext>
                </a:extLst>
              </a:tr>
              <a:tr h="495122">
                <a:tc>
                  <a:txBody>
                    <a:bodyPr/>
                    <a:lstStyle/>
                    <a:p>
                      <a:r>
                        <a:rPr lang="en-US" altLang="zh-CN" sz="1600" dirty="0"/>
                        <a:t>BWA-MEM</a:t>
                      </a:r>
                      <a:endParaRPr lang="en-US" sz="1600" dirty="0"/>
                    </a:p>
                  </a:txBody>
                  <a:tcPr marL="97186" marR="97186" marT="48592" marB="48592"/>
                </a:tc>
                <a:tc>
                  <a:txBody>
                    <a:bodyPr/>
                    <a:lstStyle/>
                    <a:p>
                      <a:r>
                        <a:rPr lang="en-US" altLang="zh-CN" sz="1600" dirty="0"/>
                        <a:t>Affine-gap</a:t>
                      </a:r>
                      <a:r>
                        <a:rPr lang="zh-CN" altLang="en-US" sz="1600" dirty="0"/>
                        <a:t> </a:t>
                      </a:r>
                      <a:r>
                        <a:rPr lang="en-US" altLang="zh-CN" sz="1600" dirty="0"/>
                        <a:t>DP</a:t>
                      </a:r>
                      <a:endParaRPr lang="en-US" sz="1600" dirty="0"/>
                    </a:p>
                  </a:txBody>
                  <a:tcPr marL="97186" marR="97186" marT="48592" marB="48592"/>
                </a:tc>
                <a:tc>
                  <a:txBody>
                    <a:bodyPr/>
                    <a:lstStyle/>
                    <a:p>
                      <a:r>
                        <a:rPr lang="en-US" sz="1600" dirty="0"/>
                        <a:t>BWA-MEM-GPU</a:t>
                      </a:r>
                      <a:r>
                        <a:rPr lang="en-US" sz="1600" baseline="30000" dirty="0"/>
                        <a:t>[1]</a:t>
                      </a:r>
                      <a:endParaRPr lang="en-US" sz="1600" dirty="0"/>
                    </a:p>
                  </a:txBody>
                  <a:tcPr marL="97186" marR="97186" marT="48592" marB="48592"/>
                </a:tc>
                <a:extLst>
                  <a:ext uri="{0D108BD9-81ED-4DB2-BD59-A6C34878D82A}">
                    <a16:rowId xmlns:a16="http://schemas.microsoft.com/office/drawing/2014/main" val="1042679435"/>
                  </a:ext>
                </a:extLst>
              </a:tr>
              <a:tr h="707316">
                <a:tc>
                  <a:txBody>
                    <a:bodyPr/>
                    <a:lstStyle/>
                    <a:p>
                      <a:r>
                        <a:rPr lang="en-US" altLang="zh-CN" sz="1600" dirty="0"/>
                        <a:t>Minimap2</a:t>
                      </a:r>
                      <a:endParaRPr lang="en-US" sz="1600" dirty="0"/>
                    </a:p>
                  </a:txBody>
                  <a:tcPr marL="97186" marR="97186" marT="48592" marB="48592"/>
                </a:tc>
                <a:tc>
                  <a:txBody>
                    <a:bodyPr/>
                    <a:lstStyle/>
                    <a:p>
                      <a:r>
                        <a:rPr lang="en-US" altLang="zh-CN" sz="1600" dirty="0"/>
                        <a:t>Banded</a:t>
                      </a:r>
                      <a:r>
                        <a:rPr lang="zh-CN" altLang="en-US" sz="1600" dirty="0"/>
                        <a:t> </a:t>
                      </a:r>
                      <a:r>
                        <a:rPr lang="en-US" altLang="zh-CN" sz="1600" dirty="0"/>
                        <a:t>affine</a:t>
                      </a:r>
                      <a:r>
                        <a:rPr lang="zh-CN" altLang="en-US" sz="1600" dirty="0"/>
                        <a:t> </a:t>
                      </a:r>
                      <a:r>
                        <a:rPr lang="en-US" altLang="zh-CN" sz="1600" dirty="0"/>
                        <a:t>SW</a:t>
                      </a:r>
                      <a:endParaRPr lang="en-US" sz="1600" dirty="0"/>
                    </a:p>
                  </a:txBody>
                  <a:tcPr marL="97186" marR="97186" marT="48592" marB="48592"/>
                </a:tc>
                <a:tc>
                  <a:txBody>
                    <a:bodyPr/>
                    <a:lstStyle/>
                    <a:p>
                      <a:r>
                        <a:rPr lang="en-US" sz="1600" dirty="0"/>
                        <a:t>AGATHA</a:t>
                      </a:r>
                      <a:r>
                        <a:rPr lang="en-US" sz="1600" baseline="30000" dirty="0"/>
                        <a:t>[2]</a:t>
                      </a:r>
                      <a:endParaRPr lang="en-US" sz="1600" dirty="0"/>
                    </a:p>
                  </a:txBody>
                  <a:tcPr marL="97186" marR="97186" marT="48592" marB="48592"/>
                </a:tc>
                <a:extLst>
                  <a:ext uri="{0D108BD9-81ED-4DB2-BD59-A6C34878D82A}">
                    <a16:rowId xmlns:a16="http://schemas.microsoft.com/office/drawing/2014/main" val="2275439964"/>
                  </a:ext>
                </a:extLst>
              </a:tr>
              <a:tr h="495122">
                <a:tc>
                  <a:txBody>
                    <a:bodyPr/>
                    <a:lstStyle/>
                    <a:p>
                      <a:r>
                        <a:rPr lang="en-US" altLang="zh-CN" sz="1600" dirty="0" err="1"/>
                        <a:t>LastZ</a:t>
                      </a:r>
                      <a:endParaRPr lang="en-US" sz="1600" dirty="0"/>
                    </a:p>
                  </a:txBody>
                  <a:tcPr marL="97186" marR="97186" marT="48592" marB="48592"/>
                </a:tc>
                <a:tc>
                  <a:txBody>
                    <a:bodyPr/>
                    <a:lstStyle/>
                    <a:p>
                      <a:r>
                        <a:rPr lang="en-US" altLang="zh-CN" sz="1600" dirty="0"/>
                        <a:t>SW</a:t>
                      </a:r>
                      <a:endParaRPr lang="en-US" sz="1600" dirty="0"/>
                    </a:p>
                  </a:txBody>
                  <a:tcPr marL="97186" marR="97186" marT="48592" marB="48592"/>
                </a:tc>
                <a:tc>
                  <a:txBody>
                    <a:bodyPr/>
                    <a:lstStyle/>
                    <a:p>
                      <a:r>
                        <a:rPr lang="en-US" sz="1600" dirty="0" err="1"/>
                        <a:t>FastZ</a:t>
                      </a:r>
                      <a:r>
                        <a:rPr lang="en-US" sz="1600" baseline="30000" dirty="0"/>
                        <a:t>[3]</a:t>
                      </a:r>
                      <a:r>
                        <a:rPr lang="en-US" sz="1600" dirty="0"/>
                        <a:t>, </a:t>
                      </a:r>
                      <a:r>
                        <a:rPr lang="en-US" sz="1600" dirty="0" err="1"/>
                        <a:t>SegAlign</a:t>
                      </a:r>
                      <a:r>
                        <a:rPr lang="en-US" sz="1600" baseline="30000" dirty="0"/>
                        <a:t>[4]</a:t>
                      </a:r>
                      <a:endParaRPr lang="en-US" sz="1600" dirty="0"/>
                    </a:p>
                  </a:txBody>
                  <a:tcPr marL="97186" marR="97186" marT="48592" marB="48592"/>
                </a:tc>
                <a:extLst>
                  <a:ext uri="{0D108BD9-81ED-4DB2-BD59-A6C34878D82A}">
                    <a16:rowId xmlns:a16="http://schemas.microsoft.com/office/drawing/2014/main" val="4181115890"/>
                  </a:ext>
                </a:extLst>
              </a:tr>
              <a:tr h="495122">
                <a:tc>
                  <a:txBody>
                    <a:bodyPr/>
                    <a:lstStyle/>
                    <a:p>
                      <a:r>
                        <a:rPr lang="en-US" altLang="zh-CN" sz="1600" dirty="0" err="1"/>
                        <a:t>wfmash</a:t>
                      </a:r>
                      <a:endParaRPr lang="en-US" sz="1600" dirty="0"/>
                    </a:p>
                  </a:txBody>
                  <a:tcPr marL="97186" marR="97186" marT="48592" marB="48592"/>
                </a:tc>
                <a:tc>
                  <a:txBody>
                    <a:bodyPr/>
                    <a:lstStyle/>
                    <a:p>
                      <a:r>
                        <a:rPr lang="en-US" altLang="zh-CN" sz="1600" dirty="0"/>
                        <a:t>WFA</a:t>
                      </a:r>
                      <a:endParaRPr lang="en-US" sz="1600" dirty="0"/>
                    </a:p>
                  </a:txBody>
                  <a:tcPr marL="97186" marR="97186" marT="48592" marB="48592"/>
                </a:tc>
                <a:tc>
                  <a:txBody>
                    <a:bodyPr/>
                    <a:lstStyle/>
                    <a:p>
                      <a:r>
                        <a:rPr lang="en-US" sz="1600" dirty="0"/>
                        <a:t>WFA-GPU</a:t>
                      </a:r>
                      <a:r>
                        <a:rPr lang="en-US" sz="1600" baseline="30000" dirty="0"/>
                        <a:t>[5]</a:t>
                      </a:r>
                      <a:endParaRPr lang="en-US" sz="1600" dirty="0"/>
                    </a:p>
                  </a:txBody>
                  <a:tcPr marL="97186" marR="97186" marT="48592" marB="48592"/>
                </a:tc>
                <a:extLst>
                  <a:ext uri="{0D108BD9-81ED-4DB2-BD59-A6C34878D82A}">
                    <a16:rowId xmlns:a16="http://schemas.microsoft.com/office/drawing/2014/main" val="507010689"/>
                  </a:ext>
                </a:extLst>
              </a:tr>
              <a:tr h="541597">
                <a:tc>
                  <a:txBody>
                    <a:bodyPr/>
                    <a:lstStyle/>
                    <a:p>
                      <a:r>
                        <a:rPr lang="en-US" altLang="zh-CN" sz="1600" dirty="0" err="1"/>
                        <a:t>FastGA</a:t>
                      </a:r>
                      <a:endParaRPr lang="en-US" sz="1600" dirty="0"/>
                    </a:p>
                  </a:txBody>
                  <a:tcPr marL="97186" marR="97186" marT="48592" marB="48592"/>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1600" dirty="0"/>
                        <a:t>Custom</a:t>
                      </a:r>
                      <a:r>
                        <a:rPr lang="zh-CN" altLang="en-US" sz="1600" dirty="0"/>
                        <a:t> </a:t>
                      </a:r>
                      <a:r>
                        <a:rPr lang="en-US" altLang="zh-CN" sz="1600" dirty="0"/>
                        <a:t>wavefront</a:t>
                      </a:r>
                      <a:r>
                        <a:rPr lang="zh-CN" altLang="en-US" sz="1600" dirty="0"/>
                        <a:t> </a:t>
                      </a:r>
                      <a:r>
                        <a:rPr lang="en-US" altLang="zh-CN" sz="1600" dirty="0"/>
                        <a:t>DP</a:t>
                      </a:r>
                      <a:r>
                        <a:rPr lang="zh-CN" altLang="en-US" sz="1600" dirty="0"/>
                        <a:t> </a:t>
                      </a:r>
                      <a:r>
                        <a:rPr lang="en-US" altLang="zh-CN" sz="1600" dirty="0"/>
                        <a:t>kernel</a:t>
                      </a:r>
                      <a:endParaRPr lang="en-US" sz="1600" dirty="0"/>
                    </a:p>
                  </a:txBody>
                  <a:tcPr marL="97186" marR="97186" marT="48592" marB="48592"/>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N/A</a:t>
                      </a:r>
                    </a:p>
                  </a:txBody>
                  <a:tcPr marL="97186" marR="97186" marT="48592" marB="48592"/>
                </a:tc>
                <a:extLst>
                  <a:ext uri="{0D108BD9-81ED-4DB2-BD59-A6C34878D82A}">
                    <a16:rowId xmlns:a16="http://schemas.microsoft.com/office/drawing/2014/main" val="2479217726"/>
                  </a:ext>
                </a:extLst>
              </a:tr>
              <a:tr h="495122">
                <a:tc>
                  <a:txBody>
                    <a:bodyPr/>
                    <a:lstStyle/>
                    <a:p>
                      <a:r>
                        <a:rPr lang="en-US" altLang="zh-CN" sz="1600" dirty="0"/>
                        <a:t>BLAST</a:t>
                      </a:r>
                      <a:endParaRPr lang="en-US" sz="1600" dirty="0"/>
                    </a:p>
                  </a:txBody>
                  <a:tcPr marL="97186" marR="97186" marT="48592" marB="48592"/>
                </a:tc>
                <a:tc>
                  <a:txBody>
                    <a:bodyPr/>
                    <a:lstStyle/>
                    <a:p>
                      <a:r>
                        <a:rPr lang="en-US" sz="1600" dirty="0"/>
                        <a:t>SW</a:t>
                      </a:r>
                    </a:p>
                  </a:txBody>
                  <a:tcPr marL="97186" marR="97186" marT="48592" marB="48592"/>
                </a:tc>
                <a:tc>
                  <a:txBody>
                    <a:bodyPr/>
                    <a:lstStyle/>
                    <a:p>
                      <a:r>
                        <a:rPr lang="en-US" sz="1600" dirty="0"/>
                        <a:t>GPU-BLAST</a:t>
                      </a:r>
                      <a:r>
                        <a:rPr lang="en-US" sz="1600" baseline="30000" dirty="0"/>
                        <a:t>[6]</a:t>
                      </a:r>
                      <a:endParaRPr lang="en-US" sz="1600" dirty="0"/>
                    </a:p>
                  </a:txBody>
                  <a:tcPr marL="97186" marR="97186" marT="48592" marB="48592"/>
                </a:tc>
                <a:extLst>
                  <a:ext uri="{0D108BD9-81ED-4DB2-BD59-A6C34878D82A}">
                    <a16:rowId xmlns:a16="http://schemas.microsoft.com/office/drawing/2014/main" val="638798224"/>
                  </a:ext>
                </a:extLst>
              </a:tr>
              <a:tr h="495122">
                <a:tc>
                  <a:txBody>
                    <a:bodyPr/>
                    <a:lstStyle/>
                    <a:p>
                      <a:r>
                        <a:rPr lang="en-US" altLang="zh-CN" sz="1600" dirty="0"/>
                        <a:t>MMseqs2</a:t>
                      </a:r>
                      <a:endParaRPr lang="en-US" sz="1600" dirty="0"/>
                    </a:p>
                  </a:txBody>
                  <a:tcPr marL="97186" marR="97186" marT="48592" marB="48592"/>
                </a:tc>
                <a:tc>
                  <a:txBody>
                    <a:bodyPr/>
                    <a:lstStyle/>
                    <a:p>
                      <a:r>
                        <a:rPr lang="en-US" sz="1600" dirty="0"/>
                        <a:t>SIMD SW, profile SW</a:t>
                      </a:r>
                    </a:p>
                  </a:txBody>
                  <a:tcPr marL="97186" marR="97186" marT="48592" marB="48592"/>
                </a:tc>
                <a:tc>
                  <a:txBody>
                    <a:bodyPr/>
                    <a:lstStyle/>
                    <a:p>
                      <a:r>
                        <a:rPr lang="en-US" sz="1600" dirty="0"/>
                        <a:t>MMseqs2-GPU</a:t>
                      </a:r>
                      <a:r>
                        <a:rPr lang="en-US" sz="1600" baseline="30000" dirty="0"/>
                        <a:t>[7]</a:t>
                      </a:r>
                      <a:endParaRPr lang="en-US" sz="1600" dirty="0"/>
                    </a:p>
                  </a:txBody>
                  <a:tcPr marL="97186" marR="97186" marT="48592" marB="48592"/>
                </a:tc>
                <a:extLst>
                  <a:ext uri="{0D108BD9-81ED-4DB2-BD59-A6C34878D82A}">
                    <a16:rowId xmlns:a16="http://schemas.microsoft.com/office/drawing/2014/main" val="3888840198"/>
                  </a:ext>
                </a:extLst>
              </a:tr>
            </a:tbl>
          </a:graphicData>
        </a:graphic>
      </p:graphicFrame>
      <p:sp>
        <p:nvSpPr>
          <p:cNvPr id="4" name="Title 3">
            <a:extLst>
              <a:ext uri="{FF2B5EF4-FFF2-40B4-BE49-F238E27FC236}">
                <a16:creationId xmlns:a16="http://schemas.microsoft.com/office/drawing/2014/main" id="{8EC61D6B-C9D8-EBD4-C9AB-19E778013EB8}"/>
              </a:ext>
            </a:extLst>
          </p:cNvPr>
          <p:cNvSpPr>
            <a:spLocks noGrp="1"/>
          </p:cNvSpPr>
          <p:nvPr>
            <p:ph type="title"/>
          </p:nvPr>
        </p:nvSpPr>
        <p:spPr/>
        <p:txBody>
          <a:bodyPr/>
          <a:lstStyle/>
          <a:p>
            <a:r>
              <a:rPr lang="en-US" altLang="zh-CN" dirty="0"/>
              <a:t>Different</a:t>
            </a:r>
            <a:r>
              <a:rPr lang="zh-CN" altLang="en-US" dirty="0"/>
              <a:t> </a:t>
            </a:r>
            <a:r>
              <a:rPr lang="en-US" altLang="zh-CN" dirty="0"/>
              <a:t>DP</a:t>
            </a:r>
            <a:r>
              <a:rPr lang="zh-CN" altLang="en-US" dirty="0"/>
              <a:t> </a:t>
            </a:r>
            <a:r>
              <a:rPr lang="en-US" altLang="zh-CN" dirty="0"/>
              <a:t>Kernel</a:t>
            </a:r>
            <a:r>
              <a:rPr lang="zh-CN" altLang="en-US" dirty="0"/>
              <a:t> </a:t>
            </a:r>
            <a:r>
              <a:rPr lang="en-US" altLang="zh-CN" dirty="0"/>
              <a:t>Variants</a:t>
            </a:r>
            <a:r>
              <a:rPr lang="zh-CN" altLang="en-US" dirty="0"/>
              <a:t> </a:t>
            </a:r>
            <a:r>
              <a:rPr lang="en-US" altLang="zh-CN" dirty="0"/>
              <a:t>are</a:t>
            </a:r>
            <a:r>
              <a:rPr lang="zh-CN" altLang="en-US" dirty="0"/>
              <a:t> </a:t>
            </a:r>
            <a:r>
              <a:rPr lang="en-US" altLang="zh-CN" dirty="0"/>
              <a:t>Used</a:t>
            </a:r>
            <a:endParaRPr lang="en-US" dirty="0"/>
          </a:p>
        </p:txBody>
      </p:sp>
      <p:sp>
        <p:nvSpPr>
          <p:cNvPr id="9" name="TextBox 8">
            <a:extLst>
              <a:ext uri="{FF2B5EF4-FFF2-40B4-BE49-F238E27FC236}">
                <a16:creationId xmlns:a16="http://schemas.microsoft.com/office/drawing/2014/main" id="{6BA5BA41-CBCB-D3DC-E6FF-E851DDD325AB}"/>
              </a:ext>
            </a:extLst>
          </p:cNvPr>
          <p:cNvSpPr txBox="1"/>
          <p:nvPr/>
        </p:nvSpPr>
        <p:spPr>
          <a:xfrm>
            <a:off x="8899756" y="2082996"/>
            <a:ext cx="2993500" cy="2031325"/>
          </a:xfrm>
          <a:prstGeom prst="rect">
            <a:avLst/>
          </a:prstGeom>
          <a:noFill/>
        </p:spPr>
        <p:txBody>
          <a:bodyPr wrap="square" rtlCol="0">
            <a:spAutoFit/>
          </a:bodyPr>
          <a:lstStyle/>
          <a:p>
            <a:r>
              <a:rPr lang="en-US" altLang="zh-CN" dirty="0">
                <a:solidFill>
                  <a:srgbClr val="000000"/>
                </a:solidFill>
                <a:latin typeface="Helvetica" pitchFamily="2" charset="0"/>
                <a:cs typeface="Calibri" panose="020F0502020204030204" pitchFamily="34" charset="0"/>
              </a:rPr>
              <a:t>Each</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GPU</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work</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requires</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some</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optimized</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CUDA</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kernel</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implementation!</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(Thousands</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of</a:t>
            </a:r>
            <a:r>
              <a:rPr lang="zh-CN" altLang="en-US" dirty="0">
                <a:solidFill>
                  <a:srgbClr val="000000"/>
                </a:solidFill>
                <a:latin typeface="Helvetica" pitchFamily="2" charset="0"/>
                <a:cs typeface="Calibri" panose="020F0502020204030204" pitchFamily="34" charset="0"/>
              </a:rPr>
              <a:t> </a:t>
            </a:r>
            <a:r>
              <a:rPr lang="en-US" altLang="zh-CN" dirty="0">
                <a:solidFill>
                  <a:srgbClr val="000000"/>
                </a:solidFill>
                <a:latin typeface="Helvetica" pitchFamily="2" charset="0"/>
                <a:cs typeface="Calibri" panose="020F0502020204030204" pitchFamily="34" charset="0"/>
              </a:rPr>
              <a:t>LoC)</a:t>
            </a:r>
          </a:p>
          <a:p>
            <a:endParaRPr lang="en-US" dirty="0">
              <a:uFillTx/>
              <a:latin typeface="Helvetica"/>
              <a:cs typeface="Helvetica"/>
            </a:endParaRPr>
          </a:p>
          <a:p>
            <a:r>
              <a:rPr lang="en-US" altLang="zh-CN" dirty="0">
                <a:latin typeface="Helvetica"/>
                <a:cs typeface="Helvetica"/>
              </a:rPr>
              <a:t>Can</a:t>
            </a:r>
            <a:r>
              <a:rPr lang="zh-CN" altLang="en-US" dirty="0">
                <a:latin typeface="Helvetica"/>
                <a:cs typeface="Helvetica"/>
              </a:rPr>
              <a:t> </a:t>
            </a:r>
            <a:r>
              <a:rPr lang="en-US" altLang="zh-CN" dirty="0">
                <a:latin typeface="Helvetica"/>
                <a:cs typeface="Helvetica"/>
              </a:rPr>
              <a:t>we</a:t>
            </a:r>
            <a:r>
              <a:rPr lang="zh-CN" altLang="en-US" dirty="0">
                <a:latin typeface="Helvetica"/>
                <a:cs typeface="Helvetica"/>
              </a:rPr>
              <a:t> </a:t>
            </a:r>
            <a:r>
              <a:rPr lang="en-US" altLang="zh-CN" dirty="0">
                <a:latin typeface="Helvetica"/>
                <a:cs typeface="Helvetica"/>
              </a:rPr>
              <a:t>ease</a:t>
            </a:r>
            <a:r>
              <a:rPr lang="zh-CN" altLang="en-US" dirty="0">
                <a:latin typeface="Helvetica"/>
                <a:cs typeface="Helvetica"/>
              </a:rPr>
              <a:t> </a:t>
            </a:r>
            <a:r>
              <a:rPr lang="en-US" altLang="zh-CN" dirty="0">
                <a:latin typeface="Helvetica"/>
                <a:cs typeface="Helvetica"/>
              </a:rPr>
              <a:t>the</a:t>
            </a:r>
            <a:r>
              <a:rPr lang="zh-CN" altLang="en-US" dirty="0">
                <a:latin typeface="Helvetica"/>
                <a:cs typeface="Helvetica"/>
              </a:rPr>
              <a:t> </a:t>
            </a:r>
            <a:r>
              <a:rPr lang="en-US" altLang="zh-CN" dirty="0">
                <a:latin typeface="Helvetica"/>
                <a:cs typeface="Helvetica"/>
              </a:rPr>
              <a:t>programming</a:t>
            </a:r>
            <a:r>
              <a:rPr lang="zh-CN" altLang="en-US" dirty="0">
                <a:latin typeface="Helvetica"/>
                <a:cs typeface="Helvetica"/>
              </a:rPr>
              <a:t> </a:t>
            </a:r>
            <a:r>
              <a:rPr lang="en-US" altLang="zh-CN" dirty="0">
                <a:latin typeface="Helvetica"/>
                <a:cs typeface="Helvetica"/>
              </a:rPr>
              <a:t>effort?</a:t>
            </a:r>
            <a:endParaRPr lang="en-US" dirty="0">
              <a:uFillTx/>
              <a:latin typeface="Helvetica"/>
              <a:cs typeface="Helvetica"/>
            </a:endParaRPr>
          </a:p>
        </p:txBody>
      </p:sp>
      <p:sp>
        <p:nvSpPr>
          <p:cNvPr id="11" name="TextBox 10">
            <a:extLst>
              <a:ext uri="{FF2B5EF4-FFF2-40B4-BE49-F238E27FC236}">
                <a16:creationId xmlns:a16="http://schemas.microsoft.com/office/drawing/2014/main" id="{F4C5F452-56B8-50F4-C46B-928AF11024EA}"/>
              </a:ext>
            </a:extLst>
          </p:cNvPr>
          <p:cNvSpPr txBox="1"/>
          <p:nvPr/>
        </p:nvSpPr>
        <p:spPr>
          <a:xfrm>
            <a:off x="246262" y="5480064"/>
            <a:ext cx="11699476" cy="1446550"/>
          </a:xfrm>
          <a:prstGeom prst="rect">
            <a:avLst/>
          </a:prstGeom>
          <a:noFill/>
        </p:spPr>
        <p:txBody>
          <a:bodyPr wrap="square" rtlCol="0">
            <a:spAutoFit/>
          </a:bodyPr>
          <a:lstStyle/>
          <a:p>
            <a:r>
              <a:rPr lang="en-US" sz="800" dirty="0">
                <a:latin typeface="Helvetica" pitchFamily="2" charset="0"/>
              </a:rPr>
              <a:t>[1] Pham, M., Tu, Y., &amp; </a:t>
            </a:r>
            <a:r>
              <a:rPr lang="en-US" sz="800" dirty="0" err="1">
                <a:latin typeface="Helvetica" pitchFamily="2" charset="0"/>
              </a:rPr>
              <a:t>Lv</a:t>
            </a:r>
            <a:r>
              <a:rPr lang="en-US" sz="800" dirty="0">
                <a:latin typeface="Helvetica" pitchFamily="2" charset="0"/>
              </a:rPr>
              <a:t>, X. (2023, June). Accelerating bwa-mem read mapping on </a:t>
            </a:r>
            <a:r>
              <a:rPr lang="en-US" sz="800" dirty="0" err="1">
                <a:latin typeface="Helvetica" pitchFamily="2" charset="0"/>
              </a:rPr>
              <a:t>gpus</a:t>
            </a:r>
            <a:r>
              <a:rPr lang="en-US" sz="800" dirty="0">
                <a:latin typeface="Helvetica" pitchFamily="2" charset="0"/>
              </a:rPr>
              <a:t>. In Proceedings of the 37th international conference on supercomputing (pp. 155-166).</a:t>
            </a:r>
          </a:p>
          <a:p>
            <a:r>
              <a:rPr lang="en-US" sz="800" dirty="0">
                <a:uFillTx/>
                <a:latin typeface="Helvetica" pitchFamily="2" charset="0"/>
                <a:cs typeface="Helvetica"/>
              </a:rPr>
              <a:t>[2] Park, S., Hong, J., Song, J., Kim, H., Kim, Y., &amp; Lee, J. (2024, March). Agatha: Fast and efficient GPU acceleration of guided sequence alignment for long read mapping. In Proceedings of the 29th ACM SIGPLAN Annual Symposium on Principles and Practice of Parallel Programming (pp. 431-444).</a:t>
            </a:r>
          </a:p>
          <a:p>
            <a:r>
              <a:rPr lang="en-US" sz="800" dirty="0">
                <a:latin typeface="Helvetica" pitchFamily="2" charset="0"/>
                <a:cs typeface="Helvetica"/>
              </a:rPr>
              <a:t>[3] </a:t>
            </a:r>
            <a:r>
              <a:rPr lang="en-US" sz="800" dirty="0" err="1">
                <a:latin typeface="Helvetica" pitchFamily="2" charset="0"/>
                <a:cs typeface="Helvetica"/>
              </a:rPr>
              <a:t>Gundabolu</a:t>
            </a:r>
            <a:r>
              <a:rPr lang="en-US" sz="800" dirty="0">
                <a:latin typeface="Helvetica" pitchFamily="2" charset="0"/>
                <a:cs typeface="Helvetica"/>
              </a:rPr>
              <a:t>, S. C., Vijaykumar, T. N., &amp; </a:t>
            </a:r>
            <a:r>
              <a:rPr lang="en-US" sz="800" dirty="0" err="1">
                <a:latin typeface="Helvetica" pitchFamily="2" charset="0"/>
                <a:cs typeface="Helvetica"/>
              </a:rPr>
              <a:t>Thottethodi</a:t>
            </a:r>
            <a:r>
              <a:rPr lang="en-US" sz="800" dirty="0">
                <a:latin typeface="Helvetica" pitchFamily="2" charset="0"/>
                <a:cs typeface="Helvetica"/>
              </a:rPr>
              <a:t>, M. (2021, November). </a:t>
            </a:r>
            <a:r>
              <a:rPr lang="en-US" sz="800" dirty="0" err="1">
                <a:latin typeface="Helvetica" pitchFamily="2" charset="0"/>
                <a:cs typeface="Helvetica"/>
              </a:rPr>
              <a:t>FastZ</a:t>
            </a:r>
            <a:r>
              <a:rPr lang="en-US" sz="800" dirty="0">
                <a:latin typeface="Helvetica" pitchFamily="2" charset="0"/>
                <a:cs typeface="Helvetica"/>
              </a:rPr>
              <a:t>: accelerating gapped whole genome alignment on GPUs. In Proceedings of the International Conference for High Performance Computing, Networking, Storage and Analysis (pp. 1-13).</a:t>
            </a:r>
          </a:p>
          <a:p>
            <a:r>
              <a:rPr lang="en-US" sz="800" dirty="0">
                <a:uFillTx/>
                <a:latin typeface="Helvetica" pitchFamily="2" charset="0"/>
                <a:cs typeface="Helvetica"/>
              </a:rPr>
              <a:t>[4] Goenka, S. D., </a:t>
            </a:r>
            <a:r>
              <a:rPr lang="en-US" sz="800" dirty="0" err="1">
                <a:uFillTx/>
                <a:latin typeface="Helvetica" pitchFamily="2" charset="0"/>
                <a:cs typeface="Helvetica"/>
              </a:rPr>
              <a:t>Turakhia</a:t>
            </a:r>
            <a:r>
              <a:rPr lang="en-US" sz="800" dirty="0">
                <a:uFillTx/>
                <a:latin typeface="Helvetica" pitchFamily="2" charset="0"/>
                <a:cs typeface="Helvetica"/>
              </a:rPr>
              <a:t>, Y., Paten, B., &amp; Horowitz, M. (2020, November). </a:t>
            </a:r>
            <a:r>
              <a:rPr lang="en-US" sz="800" dirty="0" err="1">
                <a:uFillTx/>
                <a:latin typeface="Helvetica" pitchFamily="2" charset="0"/>
                <a:cs typeface="Helvetica"/>
              </a:rPr>
              <a:t>SegAlign</a:t>
            </a:r>
            <a:r>
              <a:rPr lang="en-US" sz="800" dirty="0">
                <a:uFillTx/>
                <a:latin typeface="Helvetica" pitchFamily="2" charset="0"/>
                <a:cs typeface="Helvetica"/>
              </a:rPr>
              <a:t>: A scalable GPU-based whole genome aligner. In SC20: International Conference for High Performance Computing, Networking, Storage and Analysis (pp. 1-13). IEEE.</a:t>
            </a:r>
          </a:p>
          <a:p>
            <a:r>
              <a:rPr lang="en-US" sz="800" dirty="0">
                <a:latin typeface="Helvetica" pitchFamily="2" charset="0"/>
                <a:cs typeface="Helvetica"/>
              </a:rPr>
              <a:t>[5] Aguado-Puig, Q., </a:t>
            </a:r>
            <a:r>
              <a:rPr lang="en-US" sz="800" dirty="0" err="1">
                <a:latin typeface="Helvetica" pitchFamily="2" charset="0"/>
                <a:cs typeface="Helvetica"/>
              </a:rPr>
              <a:t>Doblas</a:t>
            </a:r>
            <a:r>
              <a:rPr lang="en-US" sz="800" dirty="0">
                <a:latin typeface="Helvetica" pitchFamily="2" charset="0"/>
                <a:cs typeface="Helvetica"/>
              </a:rPr>
              <a:t>, M., </a:t>
            </a:r>
            <a:r>
              <a:rPr lang="en-US" sz="800" dirty="0" err="1">
                <a:latin typeface="Helvetica" pitchFamily="2" charset="0"/>
                <a:cs typeface="Helvetica"/>
              </a:rPr>
              <a:t>Matzoros</a:t>
            </a:r>
            <a:r>
              <a:rPr lang="en-US" sz="800" dirty="0">
                <a:latin typeface="Helvetica" pitchFamily="2" charset="0"/>
                <a:cs typeface="Helvetica"/>
              </a:rPr>
              <a:t>, C., Espinosa, A., Moure, J. C., Marco-Sola, S., &amp; </a:t>
            </a:r>
            <a:r>
              <a:rPr lang="en-US" sz="800" dirty="0" err="1">
                <a:latin typeface="Helvetica" pitchFamily="2" charset="0"/>
                <a:cs typeface="Helvetica"/>
              </a:rPr>
              <a:t>Moreto</a:t>
            </a:r>
            <a:r>
              <a:rPr lang="en-US" sz="800" dirty="0">
                <a:latin typeface="Helvetica" pitchFamily="2" charset="0"/>
                <a:cs typeface="Helvetica"/>
              </a:rPr>
              <a:t>, M. (2023). WFA-GPU: gap-affine pairwise read-alignment using GPUs. Bioinformatics, 39(12), btad701.</a:t>
            </a:r>
          </a:p>
          <a:p>
            <a:r>
              <a:rPr lang="en-US" sz="800" dirty="0">
                <a:uFillTx/>
                <a:latin typeface="Helvetica" pitchFamily="2" charset="0"/>
                <a:cs typeface="Helvetica"/>
              </a:rPr>
              <a:t>[6] </a:t>
            </a:r>
            <a:r>
              <a:rPr lang="en-US" sz="800" dirty="0" err="1">
                <a:uFillTx/>
                <a:latin typeface="Helvetica" pitchFamily="2" charset="0"/>
                <a:cs typeface="Helvetica"/>
              </a:rPr>
              <a:t>Vouzis</a:t>
            </a:r>
            <a:r>
              <a:rPr lang="en-US" sz="800" dirty="0">
                <a:uFillTx/>
                <a:latin typeface="Helvetica" pitchFamily="2" charset="0"/>
                <a:cs typeface="Helvetica"/>
              </a:rPr>
              <a:t>, P. D., &amp; </a:t>
            </a:r>
            <a:r>
              <a:rPr lang="en-US" sz="800" dirty="0" err="1">
                <a:uFillTx/>
                <a:latin typeface="Helvetica" pitchFamily="2" charset="0"/>
                <a:cs typeface="Helvetica"/>
              </a:rPr>
              <a:t>Sahinidis</a:t>
            </a:r>
            <a:r>
              <a:rPr lang="en-US" sz="800" dirty="0">
                <a:uFillTx/>
                <a:latin typeface="Helvetica" pitchFamily="2" charset="0"/>
                <a:cs typeface="Helvetica"/>
              </a:rPr>
              <a:t>, N. V. (2011). GPU-BLAST: using graphics processors to accelerate protein sequence alignment. Bioinformatics, 27(2), 182-188.</a:t>
            </a:r>
          </a:p>
          <a:p>
            <a:r>
              <a:rPr lang="en-US" sz="800" dirty="0">
                <a:latin typeface="Helvetica" pitchFamily="2" charset="0"/>
                <a:cs typeface="Helvetica"/>
              </a:rPr>
              <a:t>[7] Kallenborn, F., Chacon, A., Hundt, C., </a:t>
            </a:r>
            <a:r>
              <a:rPr lang="en-US" sz="800" dirty="0" err="1">
                <a:latin typeface="Helvetica" pitchFamily="2" charset="0"/>
                <a:cs typeface="Helvetica"/>
              </a:rPr>
              <a:t>Sirelkhatim</a:t>
            </a:r>
            <a:r>
              <a:rPr lang="en-US" sz="800" dirty="0">
                <a:latin typeface="Helvetica" pitchFamily="2" charset="0"/>
                <a:cs typeface="Helvetica"/>
              </a:rPr>
              <a:t>, H., Didi, K., Cha, S., ... &amp; </a:t>
            </a:r>
            <a:r>
              <a:rPr lang="en-US" sz="800" dirty="0" err="1">
                <a:latin typeface="Helvetica" pitchFamily="2" charset="0"/>
                <a:cs typeface="Helvetica"/>
              </a:rPr>
              <a:t>Steinegger</a:t>
            </a:r>
            <a:r>
              <a:rPr lang="en-US" sz="800" dirty="0">
                <a:latin typeface="Helvetica" pitchFamily="2" charset="0"/>
                <a:cs typeface="Helvetica"/>
              </a:rPr>
              <a:t>, M. (2025). GPU-accelerated homology search with MMseqs2. Nature Methods, 1-4.</a:t>
            </a:r>
            <a:endParaRPr lang="en-US" sz="800" dirty="0">
              <a:uFillTx/>
              <a:latin typeface="Helvetica" pitchFamily="2" charset="0"/>
              <a:cs typeface="Helvetica"/>
            </a:endParaRPr>
          </a:p>
          <a:p>
            <a:endParaRPr lang="en-US" sz="800" dirty="0">
              <a:uFillTx/>
              <a:latin typeface="Helvetica" pitchFamily="2" charset="0"/>
              <a:cs typeface="Helvetica"/>
            </a:endParaRPr>
          </a:p>
        </p:txBody>
      </p:sp>
    </p:spTree>
    <p:extLst>
      <p:ext uri="{BB962C8B-B14F-4D97-AF65-F5344CB8AC3E}">
        <p14:creationId xmlns:p14="http://schemas.microsoft.com/office/powerpoint/2010/main" val="205816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CF02EE-4CCC-EE99-8C74-2913DDE64E3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00E4C3-34F6-DE45-A4C6-A49633FDBADA}" type="slidenum">
              <a:rPr kumimoji="0" lang="en-US" sz="1200" b="0" i="0" u="none" strike="noStrike" kern="1200" cap="none" spc="0" normalizeH="0" baseline="0" noProof="0" smtClean="0">
                <a:ln>
                  <a:noFill/>
                </a:ln>
                <a:solidFill>
                  <a:srgbClr val="000000">
                    <a:tint val="75000"/>
                  </a:srgbClr>
                </a:solidFill>
                <a:effectLst/>
                <a:uLnTx/>
                <a:uFillTx/>
                <a:latin typeface="Calisto M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tint val="75000"/>
                </a:srgbClr>
              </a:solidFill>
              <a:effectLst/>
              <a:uLnTx/>
              <a:uFillTx/>
              <a:latin typeface="Calisto MT"/>
              <a:ea typeface="+mn-ea"/>
              <a:cs typeface="+mn-cs"/>
            </a:endParaRPr>
          </a:p>
        </p:txBody>
      </p:sp>
      <p:sp>
        <p:nvSpPr>
          <p:cNvPr id="3" name="Content Placeholder 2">
            <a:extLst>
              <a:ext uri="{FF2B5EF4-FFF2-40B4-BE49-F238E27FC236}">
                <a16:creationId xmlns:a16="http://schemas.microsoft.com/office/drawing/2014/main" id="{994ED40B-FFDF-48F8-A1C0-F8E4319A3730}"/>
              </a:ext>
            </a:extLst>
          </p:cNvPr>
          <p:cNvSpPr>
            <a:spLocks noGrp="1"/>
          </p:cNvSpPr>
          <p:nvPr>
            <p:ph idx="1"/>
          </p:nvPr>
        </p:nvSpPr>
        <p:spPr/>
        <p:txBody>
          <a:bodyPr/>
          <a:lstStyle/>
          <a:p>
            <a:endParaRPr lang="en-US" dirty="0"/>
          </a:p>
        </p:txBody>
      </p:sp>
      <p:sp>
        <p:nvSpPr>
          <p:cNvPr id="4" name="Title 3">
            <a:extLst>
              <a:ext uri="{FF2B5EF4-FFF2-40B4-BE49-F238E27FC236}">
                <a16:creationId xmlns:a16="http://schemas.microsoft.com/office/drawing/2014/main" id="{A49C2576-C87D-F1EA-47B2-5E17DB140A50}"/>
              </a:ext>
            </a:extLst>
          </p:cNvPr>
          <p:cNvSpPr>
            <a:spLocks noGrp="1"/>
          </p:cNvSpPr>
          <p:nvPr>
            <p:ph type="title"/>
          </p:nvPr>
        </p:nvSpPr>
        <p:spPr/>
        <p:txBody>
          <a:bodyPr>
            <a:normAutofit/>
          </a:bodyPr>
          <a:lstStyle/>
          <a:p>
            <a:r>
              <a:rPr lang="en-US" dirty="0"/>
              <a:t>Triton: write Python to get optimized GPU kernel for ML Ops</a:t>
            </a:r>
          </a:p>
        </p:txBody>
      </p:sp>
      <p:pic>
        <p:nvPicPr>
          <p:cNvPr id="5" name="Picture 4">
            <a:extLst>
              <a:ext uri="{FF2B5EF4-FFF2-40B4-BE49-F238E27FC236}">
                <a16:creationId xmlns:a16="http://schemas.microsoft.com/office/drawing/2014/main" id="{992F369C-66FC-476A-F882-F06249C78D5E}"/>
              </a:ext>
            </a:extLst>
          </p:cNvPr>
          <p:cNvPicPr>
            <a:picLocks noChangeAspect="1"/>
          </p:cNvPicPr>
          <p:nvPr/>
        </p:nvPicPr>
        <p:blipFill>
          <a:blip r:embed="rId2"/>
          <a:stretch>
            <a:fillRect/>
          </a:stretch>
        </p:blipFill>
        <p:spPr>
          <a:xfrm>
            <a:off x="796634" y="4800619"/>
            <a:ext cx="9132341" cy="1863944"/>
          </a:xfrm>
          <a:prstGeom prst="rect">
            <a:avLst/>
          </a:prstGeom>
        </p:spPr>
      </p:pic>
      <p:pic>
        <p:nvPicPr>
          <p:cNvPr id="6" name="Picture 5">
            <a:extLst>
              <a:ext uri="{FF2B5EF4-FFF2-40B4-BE49-F238E27FC236}">
                <a16:creationId xmlns:a16="http://schemas.microsoft.com/office/drawing/2014/main" id="{81A1159F-6FD3-A495-8BFF-CE99960D7A4F}"/>
              </a:ext>
            </a:extLst>
          </p:cNvPr>
          <p:cNvPicPr>
            <a:picLocks noChangeAspect="1"/>
          </p:cNvPicPr>
          <p:nvPr/>
        </p:nvPicPr>
        <p:blipFill>
          <a:blip r:embed="rId3"/>
          <a:stretch>
            <a:fillRect/>
          </a:stretch>
        </p:blipFill>
        <p:spPr>
          <a:xfrm>
            <a:off x="609600" y="978493"/>
            <a:ext cx="7119655" cy="3177871"/>
          </a:xfrm>
          <a:prstGeom prst="rect">
            <a:avLst/>
          </a:prstGeom>
        </p:spPr>
      </p:pic>
      <p:pic>
        <p:nvPicPr>
          <p:cNvPr id="7" name="Picture 6">
            <a:extLst>
              <a:ext uri="{FF2B5EF4-FFF2-40B4-BE49-F238E27FC236}">
                <a16:creationId xmlns:a16="http://schemas.microsoft.com/office/drawing/2014/main" id="{78BAC4A8-9AE7-BA23-25D2-E221AEAEB418}"/>
              </a:ext>
            </a:extLst>
          </p:cNvPr>
          <p:cNvPicPr>
            <a:picLocks noChangeAspect="1"/>
          </p:cNvPicPr>
          <p:nvPr/>
        </p:nvPicPr>
        <p:blipFill>
          <a:blip r:embed="rId4"/>
          <a:stretch>
            <a:fillRect/>
          </a:stretch>
        </p:blipFill>
        <p:spPr>
          <a:xfrm>
            <a:off x="4604111" y="994030"/>
            <a:ext cx="7178402" cy="4764973"/>
          </a:xfrm>
          <a:prstGeom prst="rect">
            <a:avLst/>
          </a:prstGeom>
        </p:spPr>
      </p:pic>
    </p:spTree>
    <p:extLst>
      <p:ext uri="{BB962C8B-B14F-4D97-AF65-F5344CB8AC3E}">
        <p14:creationId xmlns:p14="http://schemas.microsoft.com/office/powerpoint/2010/main" val="279336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5D205D-F540-7F1C-6ACF-3B167207C6C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00E4C3-34F6-DE45-A4C6-A49633FDBADA}" type="slidenum">
              <a:rPr kumimoji="0" lang="en-US" sz="1200" b="0" i="0" u="none" strike="noStrike" kern="1200" cap="none" spc="0" normalizeH="0" baseline="0" noProof="0" smtClean="0">
                <a:ln>
                  <a:noFill/>
                </a:ln>
                <a:solidFill>
                  <a:srgbClr val="000000">
                    <a:tint val="75000"/>
                  </a:srgbClr>
                </a:solidFill>
                <a:effectLst/>
                <a:uLnTx/>
                <a:uFillTx/>
                <a:latin typeface="Calisto M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tint val="75000"/>
                </a:srgbClr>
              </a:solidFill>
              <a:effectLst/>
              <a:uLnTx/>
              <a:uFillTx/>
              <a:latin typeface="Calisto MT"/>
              <a:ea typeface="+mn-ea"/>
              <a:cs typeface="+mn-cs"/>
            </a:endParaRPr>
          </a:p>
        </p:txBody>
      </p:sp>
      <p:sp>
        <p:nvSpPr>
          <p:cNvPr id="3" name="Content Placeholder 2">
            <a:extLst>
              <a:ext uri="{FF2B5EF4-FFF2-40B4-BE49-F238E27FC236}">
                <a16:creationId xmlns:a16="http://schemas.microsoft.com/office/drawing/2014/main" id="{2A0234D7-7F87-6C55-C41C-E34B272E38CF}"/>
              </a:ext>
            </a:extLst>
          </p:cNvPr>
          <p:cNvSpPr>
            <a:spLocks noGrp="1"/>
          </p:cNvSpPr>
          <p:nvPr>
            <p:ph idx="1"/>
          </p:nvPr>
        </p:nvSpPr>
        <p:spPr/>
        <p:txBody>
          <a:bodyPr/>
          <a:lstStyle/>
          <a:p>
            <a:r>
              <a:rPr lang="en-US" dirty="0"/>
              <a:t>Can those optimizations also work for genomic kernels? </a:t>
            </a:r>
          </a:p>
          <a:p>
            <a:r>
              <a:rPr lang="en-US" dirty="0"/>
              <a:t>Not GEMM</a:t>
            </a:r>
          </a:p>
          <a:p>
            <a:r>
              <a:rPr lang="en-US" dirty="0"/>
              <a:t>Different parallel schemes</a:t>
            </a:r>
          </a:p>
          <a:p>
            <a:r>
              <a:rPr lang="en-US" dirty="0"/>
              <a:t>Sometimes irregular memory access (especially with some pruning heuristics)</a:t>
            </a:r>
          </a:p>
        </p:txBody>
      </p:sp>
      <p:sp>
        <p:nvSpPr>
          <p:cNvPr id="4" name="Title 3">
            <a:extLst>
              <a:ext uri="{FF2B5EF4-FFF2-40B4-BE49-F238E27FC236}">
                <a16:creationId xmlns:a16="http://schemas.microsoft.com/office/drawing/2014/main" id="{14E39B76-E901-4AFD-39BA-6FCE1F56BE36}"/>
              </a:ext>
            </a:extLst>
          </p:cNvPr>
          <p:cNvSpPr>
            <a:spLocks noGrp="1"/>
          </p:cNvSpPr>
          <p:nvPr>
            <p:ph type="title"/>
          </p:nvPr>
        </p:nvSpPr>
        <p:spPr/>
        <p:txBody>
          <a:bodyPr/>
          <a:lstStyle/>
          <a:p>
            <a:r>
              <a:rPr lang="en-US" dirty="0"/>
              <a:t>Triton for Sequence Alignment Kernels?</a:t>
            </a:r>
          </a:p>
        </p:txBody>
      </p:sp>
    </p:spTree>
    <p:extLst>
      <p:ext uri="{BB962C8B-B14F-4D97-AF65-F5344CB8AC3E}">
        <p14:creationId xmlns:p14="http://schemas.microsoft.com/office/powerpoint/2010/main" val="2826213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50845-E710-E6B0-2D7A-118ADEEEB4EE}"/>
              </a:ext>
            </a:extLst>
          </p:cNvPr>
          <p:cNvSpPr>
            <a:spLocks noGrp="1"/>
          </p:cNvSpPr>
          <p:nvPr>
            <p:ph type="sldNum" sz="quarter" idx="12"/>
          </p:nvPr>
        </p:nvSpPr>
        <p:spPr/>
        <p:txBody>
          <a:bodyPr/>
          <a:lstStyle/>
          <a:p>
            <a:fld id="{6200E4C3-34F6-DE45-A4C6-A49633FDBADA}" type="slidenum">
              <a:rPr lang="en-US" smtClean="0"/>
              <a:t>8</a:t>
            </a:fld>
            <a:endParaRPr lang="en-US"/>
          </a:p>
        </p:txBody>
      </p:sp>
      <p:sp>
        <p:nvSpPr>
          <p:cNvPr id="3" name="Content Placeholder 2">
            <a:extLst>
              <a:ext uri="{FF2B5EF4-FFF2-40B4-BE49-F238E27FC236}">
                <a16:creationId xmlns:a16="http://schemas.microsoft.com/office/drawing/2014/main" id="{FA6D1088-81EF-8108-888D-6096B996A348}"/>
              </a:ext>
            </a:extLst>
          </p:cNvPr>
          <p:cNvSpPr>
            <a:spLocks noGrp="1"/>
          </p:cNvSpPr>
          <p:nvPr>
            <p:ph idx="1"/>
          </p:nvPr>
        </p:nvSpPr>
        <p:spPr>
          <a:xfrm>
            <a:off x="609600" y="994030"/>
            <a:ext cx="7959115" cy="4525963"/>
          </a:xfrm>
        </p:spPr>
        <p:txBody>
          <a:bodyPr/>
          <a:lstStyle/>
          <a:p>
            <a:r>
              <a:rPr lang="en-US" dirty="0"/>
              <a:t>Guided DP kernel is used in the extend stage of minimap2</a:t>
            </a:r>
          </a:p>
          <a:p>
            <a:pPr lvl="1"/>
            <a:r>
              <a:rPr lang="en-US" dirty="0"/>
              <a:t>Affine gap penalty</a:t>
            </a:r>
          </a:p>
          <a:p>
            <a:pPr lvl="1"/>
            <a:r>
              <a:rPr lang="en-US" dirty="0"/>
              <a:t>Banding</a:t>
            </a:r>
          </a:p>
          <a:p>
            <a:pPr lvl="1"/>
            <a:r>
              <a:rPr lang="en-US" dirty="0"/>
              <a:t>Z-drop for termination condition</a:t>
            </a:r>
          </a:p>
          <a:p>
            <a:pPr lvl="2"/>
            <a:r>
              <a:rPr lang="en-US" dirty="0"/>
              <a:t>If the difference between local max and global max is too large, termination condition is met</a:t>
            </a:r>
          </a:p>
          <a:p>
            <a:r>
              <a:rPr lang="en-US" dirty="0"/>
              <a:t>Minimap2 uses optimized SIMD kernel on CPU</a:t>
            </a:r>
          </a:p>
        </p:txBody>
      </p:sp>
      <p:sp>
        <p:nvSpPr>
          <p:cNvPr id="4" name="Title 3">
            <a:extLst>
              <a:ext uri="{FF2B5EF4-FFF2-40B4-BE49-F238E27FC236}">
                <a16:creationId xmlns:a16="http://schemas.microsoft.com/office/drawing/2014/main" id="{8DCB9CFA-4E92-DA68-405B-E1A258AE935A}"/>
              </a:ext>
            </a:extLst>
          </p:cNvPr>
          <p:cNvSpPr>
            <a:spLocks noGrp="1"/>
          </p:cNvSpPr>
          <p:nvPr>
            <p:ph type="title"/>
          </p:nvPr>
        </p:nvSpPr>
        <p:spPr/>
        <p:txBody>
          <a:bodyPr/>
          <a:lstStyle/>
          <a:p>
            <a:r>
              <a:rPr lang="en-US" dirty="0"/>
              <a:t>Guided DP: Extending Alignment in Minimap2</a:t>
            </a:r>
          </a:p>
        </p:txBody>
      </p:sp>
      <p:pic>
        <p:nvPicPr>
          <p:cNvPr id="6" name="Picture 5">
            <a:extLst>
              <a:ext uri="{FF2B5EF4-FFF2-40B4-BE49-F238E27FC236}">
                <a16:creationId xmlns:a16="http://schemas.microsoft.com/office/drawing/2014/main" id="{ABC9C587-2E89-0939-8BD5-81F002FF787B}"/>
              </a:ext>
            </a:extLst>
          </p:cNvPr>
          <p:cNvPicPr>
            <a:picLocks noChangeAspect="1"/>
          </p:cNvPicPr>
          <p:nvPr/>
        </p:nvPicPr>
        <p:blipFill>
          <a:blip r:embed="rId2"/>
          <a:stretch>
            <a:fillRect/>
          </a:stretch>
        </p:blipFill>
        <p:spPr>
          <a:xfrm>
            <a:off x="8421181" y="718963"/>
            <a:ext cx="3403265" cy="1837270"/>
          </a:xfrm>
          <a:prstGeom prst="rect">
            <a:avLst/>
          </a:prstGeom>
        </p:spPr>
      </p:pic>
      <p:pic>
        <p:nvPicPr>
          <p:cNvPr id="7" name="Picture 6">
            <a:extLst>
              <a:ext uri="{FF2B5EF4-FFF2-40B4-BE49-F238E27FC236}">
                <a16:creationId xmlns:a16="http://schemas.microsoft.com/office/drawing/2014/main" id="{BA4D30F2-38F3-A7D7-2568-DA7A496A1EB5}"/>
              </a:ext>
            </a:extLst>
          </p:cNvPr>
          <p:cNvPicPr>
            <a:picLocks noChangeAspect="1"/>
          </p:cNvPicPr>
          <p:nvPr/>
        </p:nvPicPr>
        <p:blipFill>
          <a:blip r:embed="rId3"/>
          <a:stretch>
            <a:fillRect/>
          </a:stretch>
        </p:blipFill>
        <p:spPr>
          <a:xfrm>
            <a:off x="7654315" y="3412231"/>
            <a:ext cx="4279132" cy="2962477"/>
          </a:xfrm>
          <a:prstGeom prst="rect">
            <a:avLst/>
          </a:prstGeom>
        </p:spPr>
      </p:pic>
      <p:pic>
        <p:nvPicPr>
          <p:cNvPr id="8" name="Picture 7">
            <a:extLst>
              <a:ext uri="{FF2B5EF4-FFF2-40B4-BE49-F238E27FC236}">
                <a16:creationId xmlns:a16="http://schemas.microsoft.com/office/drawing/2014/main" id="{EF83B790-EB10-EAF2-E734-A31F65D39639}"/>
              </a:ext>
            </a:extLst>
          </p:cNvPr>
          <p:cNvPicPr>
            <a:picLocks noChangeAspect="1"/>
          </p:cNvPicPr>
          <p:nvPr/>
        </p:nvPicPr>
        <p:blipFill>
          <a:blip r:embed="rId4"/>
          <a:stretch>
            <a:fillRect/>
          </a:stretch>
        </p:blipFill>
        <p:spPr>
          <a:xfrm>
            <a:off x="4129176" y="1643654"/>
            <a:ext cx="3933648" cy="690878"/>
          </a:xfrm>
          <a:prstGeom prst="rect">
            <a:avLst/>
          </a:prstGeom>
        </p:spPr>
      </p:pic>
    </p:spTree>
    <p:extLst>
      <p:ext uri="{BB962C8B-B14F-4D97-AF65-F5344CB8AC3E}">
        <p14:creationId xmlns:p14="http://schemas.microsoft.com/office/powerpoint/2010/main" val="2519141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6D36B7-6E55-8AB2-F19E-5D6842963D3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00E4C3-34F6-DE45-A4C6-A49633FDBADA}" type="slidenum">
              <a:rPr kumimoji="0" lang="en-US" sz="1200" b="0" i="0" u="none" strike="noStrike" kern="1200" cap="none" spc="0" normalizeH="0" baseline="0" noProof="0" smtClean="0">
                <a:ln>
                  <a:noFill/>
                </a:ln>
                <a:solidFill>
                  <a:srgbClr val="000000">
                    <a:tint val="75000"/>
                  </a:srgbClr>
                </a:solidFill>
                <a:effectLst/>
                <a:uLnTx/>
                <a:uFillTx/>
                <a:latin typeface="Calisto M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000000">
                  <a:tint val="75000"/>
                </a:srgbClr>
              </a:solidFill>
              <a:effectLst/>
              <a:uLnTx/>
              <a:uFillTx/>
              <a:latin typeface="Calisto MT"/>
              <a:ea typeface="+mn-ea"/>
              <a:cs typeface="+mn-cs"/>
            </a:endParaRPr>
          </a:p>
        </p:txBody>
      </p:sp>
      <p:sp>
        <p:nvSpPr>
          <p:cNvPr id="3" name="Content Placeholder 2">
            <a:extLst>
              <a:ext uri="{FF2B5EF4-FFF2-40B4-BE49-F238E27FC236}">
                <a16:creationId xmlns:a16="http://schemas.microsoft.com/office/drawing/2014/main" id="{D6E0BE42-06D6-F574-5D76-D472F349BE70}"/>
              </a:ext>
            </a:extLst>
          </p:cNvPr>
          <p:cNvSpPr>
            <a:spLocks noGrp="1"/>
          </p:cNvSpPr>
          <p:nvPr>
            <p:ph idx="1"/>
          </p:nvPr>
        </p:nvSpPr>
        <p:spPr>
          <a:xfrm>
            <a:off x="609600" y="994030"/>
            <a:ext cx="7620000" cy="4525963"/>
          </a:xfrm>
        </p:spPr>
        <p:txBody>
          <a:bodyPr>
            <a:noAutofit/>
          </a:bodyPr>
          <a:lstStyle/>
          <a:p>
            <a:r>
              <a:rPr lang="en-US" dirty="0"/>
              <a:t>Parallel scheme</a:t>
            </a:r>
          </a:p>
          <a:p>
            <a:pPr lvl="1"/>
            <a:r>
              <a:rPr lang="en-US" dirty="0"/>
              <a:t>Inter-query: independent task</a:t>
            </a:r>
          </a:p>
          <a:p>
            <a:pPr lvl="1"/>
            <a:r>
              <a:rPr lang="en-US" dirty="0"/>
              <a:t>Intra-query: 4 threads cooperatively working on the anti-diagonal</a:t>
            </a:r>
          </a:p>
          <a:p>
            <a:r>
              <a:rPr lang="en-US" dirty="0"/>
              <a:t>Input packing</a:t>
            </a:r>
          </a:p>
          <a:p>
            <a:pPr lvl="1"/>
            <a:r>
              <a:rPr lang="en-US" dirty="0"/>
              <a:t>4-bit to store one literal</a:t>
            </a:r>
          </a:p>
          <a:p>
            <a:r>
              <a:rPr lang="en-US" dirty="0"/>
              <a:t>Challenges (closely related to Z-drop)</a:t>
            </a:r>
          </a:p>
          <a:p>
            <a:pPr lvl="1"/>
            <a:r>
              <a:rPr lang="en-US" dirty="0"/>
              <a:t>Random memory access</a:t>
            </a:r>
          </a:p>
          <a:p>
            <a:pPr lvl="1"/>
            <a:r>
              <a:rPr lang="en-US" dirty="0"/>
              <a:t>Severe workload imbalance</a:t>
            </a:r>
          </a:p>
        </p:txBody>
      </p:sp>
      <p:sp>
        <p:nvSpPr>
          <p:cNvPr id="4" name="Title 3">
            <a:extLst>
              <a:ext uri="{FF2B5EF4-FFF2-40B4-BE49-F238E27FC236}">
                <a16:creationId xmlns:a16="http://schemas.microsoft.com/office/drawing/2014/main" id="{7BE67214-5FA2-179B-45AA-A4BD365E2784}"/>
              </a:ext>
            </a:extLst>
          </p:cNvPr>
          <p:cNvSpPr>
            <a:spLocks noGrp="1"/>
          </p:cNvSpPr>
          <p:nvPr>
            <p:ph type="title"/>
          </p:nvPr>
        </p:nvSpPr>
        <p:spPr/>
        <p:txBody>
          <a:bodyPr/>
          <a:lstStyle/>
          <a:p>
            <a:r>
              <a:rPr lang="en-US" dirty="0"/>
              <a:t>GPU SOTA: AGATHA</a:t>
            </a:r>
          </a:p>
        </p:txBody>
      </p:sp>
      <p:pic>
        <p:nvPicPr>
          <p:cNvPr id="7" name="Picture 6">
            <a:extLst>
              <a:ext uri="{FF2B5EF4-FFF2-40B4-BE49-F238E27FC236}">
                <a16:creationId xmlns:a16="http://schemas.microsoft.com/office/drawing/2014/main" id="{AED42E0E-EFEE-D520-FCBA-173EB964C6F2}"/>
              </a:ext>
            </a:extLst>
          </p:cNvPr>
          <p:cNvPicPr>
            <a:picLocks noChangeAspect="1"/>
          </p:cNvPicPr>
          <p:nvPr/>
        </p:nvPicPr>
        <p:blipFill>
          <a:blip r:embed="rId2"/>
          <a:stretch>
            <a:fillRect/>
          </a:stretch>
        </p:blipFill>
        <p:spPr>
          <a:xfrm>
            <a:off x="8183503" y="818949"/>
            <a:ext cx="3820050" cy="2947651"/>
          </a:xfrm>
          <a:prstGeom prst="rect">
            <a:avLst/>
          </a:prstGeom>
        </p:spPr>
      </p:pic>
      <p:sp>
        <p:nvSpPr>
          <p:cNvPr id="8" name="TextBox 7">
            <a:extLst>
              <a:ext uri="{FF2B5EF4-FFF2-40B4-BE49-F238E27FC236}">
                <a16:creationId xmlns:a16="http://schemas.microsoft.com/office/drawing/2014/main" id="{B1A2CCCF-0E77-D148-AC37-76195C2DB5BE}"/>
              </a:ext>
            </a:extLst>
          </p:cNvPr>
          <p:cNvSpPr txBox="1"/>
          <p:nvPr/>
        </p:nvSpPr>
        <p:spPr>
          <a:xfrm>
            <a:off x="246262" y="6167643"/>
            <a:ext cx="11699476" cy="338554"/>
          </a:xfrm>
          <a:prstGeom prst="rect">
            <a:avLst/>
          </a:prstGeom>
          <a:noFill/>
        </p:spPr>
        <p:txBody>
          <a:bodyPr wrap="square" rtlCol="0">
            <a:spAutoFit/>
          </a:bodyPr>
          <a:lstStyle/>
          <a:p>
            <a:r>
              <a:rPr lang="en-US" sz="800" dirty="0">
                <a:uFillTx/>
                <a:latin typeface="Helvetica" pitchFamily="2" charset="0"/>
                <a:cs typeface="Helvetica"/>
              </a:rPr>
              <a:t>[1] Park, S., Hong, J., Song, J., Kim, H., Kim, Y., &amp; Lee, J. (2024, March). Agatha: Fast and efficient GPU acceleration of guided sequence alignment for long read mapping. In Proceedings of the 29th ACM SIGPLAN Annual Symposium on Principles and Practice of Parallel Programming (pp. 431-444).</a:t>
            </a:r>
          </a:p>
        </p:txBody>
      </p:sp>
    </p:spTree>
    <p:extLst>
      <p:ext uri="{BB962C8B-B14F-4D97-AF65-F5344CB8AC3E}">
        <p14:creationId xmlns:p14="http://schemas.microsoft.com/office/powerpoint/2010/main" val="3630764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C58222-479F-6565-D9E4-A038CD89EE6D}"/>
              </a:ext>
            </a:extLst>
          </p:cNvPr>
          <p:cNvSpPr>
            <a:spLocks noGrp="1"/>
          </p:cNvSpPr>
          <p:nvPr>
            <p:ph type="sldNum" sz="quarter" idx="12"/>
          </p:nvPr>
        </p:nvSpPr>
        <p:spPr/>
        <p:txBody>
          <a:bodyPr/>
          <a:lstStyle/>
          <a:p>
            <a:fld id="{6200E4C3-34F6-DE45-A4C6-A49633FDBADA}" type="slidenum">
              <a:rPr lang="en-US" smtClean="0"/>
              <a:t>10</a:t>
            </a:fld>
            <a:endParaRPr lang="en-US"/>
          </a:p>
        </p:txBody>
      </p:sp>
      <p:sp>
        <p:nvSpPr>
          <p:cNvPr id="3" name="Content Placeholder 2">
            <a:extLst>
              <a:ext uri="{FF2B5EF4-FFF2-40B4-BE49-F238E27FC236}">
                <a16:creationId xmlns:a16="http://schemas.microsoft.com/office/drawing/2014/main" id="{B3C9D92A-5947-8C78-510B-F756A459BD83}"/>
              </a:ext>
            </a:extLst>
          </p:cNvPr>
          <p:cNvSpPr>
            <a:spLocks noGrp="1"/>
          </p:cNvSpPr>
          <p:nvPr>
            <p:ph idx="1"/>
          </p:nvPr>
        </p:nvSpPr>
        <p:spPr>
          <a:xfrm>
            <a:off x="609600" y="994030"/>
            <a:ext cx="8013616" cy="4525963"/>
          </a:xfrm>
        </p:spPr>
        <p:txBody>
          <a:bodyPr>
            <a:noAutofit/>
          </a:bodyPr>
          <a:lstStyle/>
          <a:p>
            <a:r>
              <a:rPr lang="en-US" dirty="0"/>
              <a:t>Threads progress horizontally chunk by chunk</a:t>
            </a:r>
          </a:p>
          <a:p>
            <a:r>
              <a:rPr lang="en-US" dirty="0"/>
              <a:t>[C.1] Storing local maximum values</a:t>
            </a:r>
          </a:p>
          <a:p>
            <a:pPr lvl="1"/>
            <a:r>
              <a:rPr lang="en-US" dirty="0"/>
              <a:t>Local max values are to be preserved until the entire anti-diagonal is processed and tested against the termination cond.</a:t>
            </a:r>
          </a:p>
          <a:p>
            <a:pPr lvl="1"/>
            <a:r>
              <a:rPr lang="en-US" dirty="0"/>
              <a:t>As threads progress horizontally, processing a chunk leaves many incomplete local maximum</a:t>
            </a:r>
          </a:p>
          <a:p>
            <a:pPr lvl="1"/>
            <a:r>
              <a:rPr lang="en-US" dirty="0"/>
              <a:t>Must store partial maximum values in the memory -&gt; huge performance burden</a:t>
            </a:r>
          </a:p>
          <a:p>
            <a:r>
              <a:rPr lang="en-US" dirty="0"/>
              <a:t>[C.2] Problem of run-ahead processing</a:t>
            </a:r>
          </a:p>
          <a:p>
            <a:pPr lvl="1"/>
            <a:r>
              <a:rPr lang="en-US" dirty="0"/>
              <a:t>A huge run-ahead region is unnecessarily executed</a:t>
            </a:r>
          </a:p>
          <a:p>
            <a:r>
              <a:rPr lang="en-US" dirty="0"/>
              <a:t>Workload imbalance</a:t>
            </a:r>
          </a:p>
          <a:p>
            <a:pPr lvl="1"/>
            <a:r>
              <a:rPr lang="en-US" dirty="0"/>
              <a:t>[C.3] Static imbalance: different sequence length</a:t>
            </a:r>
          </a:p>
          <a:p>
            <a:pPr lvl="1"/>
            <a:r>
              <a:rPr lang="en-US" dirty="0"/>
              <a:t>[C.4] Dynamic imbalance: early termination</a:t>
            </a:r>
          </a:p>
        </p:txBody>
      </p:sp>
      <p:sp>
        <p:nvSpPr>
          <p:cNvPr id="4" name="Title 3">
            <a:extLst>
              <a:ext uri="{FF2B5EF4-FFF2-40B4-BE49-F238E27FC236}">
                <a16:creationId xmlns:a16="http://schemas.microsoft.com/office/drawing/2014/main" id="{F6B401BF-5894-DFF6-7CAB-11D08B0076DF}"/>
              </a:ext>
            </a:extLst>
          </p:cNvPr>
          <p:cNvSpPr>
            <a:spLocks noGrp="1"/>
          </p:cNvSpPr>
          <p:nvPr>
            <p:ph type="title"/>
          </p:nvPr>
        </p:nvSpPr>
        <p:spPr/>
        <p:txBody>
          <a:bodyPr/>
          <a:lstStyle/>
          <a:p>
            <a:r>
              <a:rPr lang="en-US" dirty="0"/>
              <a:t>AGATHA: Challenges</a:t>
            </a:r>
          </a:p>
        </p:txBody>
      </p:sp>
      <p:pic>
        <p:nvPicPr>
          <p:cNvPr id="5" name="Picture 4">
            <a:extLst>
              <a:ext uri="{FF2B5EF4-FFF2-40B4-BE49-F238E27FC236}">
                <a16:creationId xmlns:a16="http://schemas.microsoft.com/office/drawing/2014/main" id="{232BC971-8ECF-A450-41C1-02AE02248EA1}"/>
              </a:ext>
            </a:extLst>
          </p:cNvPr>
          <p:cNvPicPr>
            <a:picLocks noChangeAspect="1"/>
          </p:cNvPicPr>
          <p:nvPr/>
        </p:nvPicPr>
        <p:blipFill>
          <a:blip r:embed="rId2"/>
          <a:stretch>
            <a:fillRect/>
          </a:stretch>
        </p:blipFill>
        <p:spPr>
          <a:xfrm>
            <a:off x="8621827" y="830528"/>
            <a:ext cx="3570173" cy="2859230"/>
          </a:xfrm>
          <a:prstGeom prst="rect">
            <a:avLst/>
          </a:prstGeom>
        </p:spPr>
      </p:pic>
    </p:spTree>
    <p:extLst>
      <p:ext uri="{BB962C8B-B14F-4D97-AF65-F5344CB8AC3E}">
        <p14:creationId xmlns:p14="http://schemas.microsoft.com/office/powerpoint/2010/main" val="3375174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EC136F-8856-4938-2BAD-C4C08DC26158}"/>
              </a:ext>
            </a:extLst>
          </p:cNvPr>
          <p:cNvSpPr>
            <a:spLocks noGrp="1"/>
          </p:cNvSpPr>
          <p:nvPr>
            <p:ph type="sldNum" sz="quarter" idx="12"/>
          </p:nvPr>
        </p:nvSpPr>
        <p:spPr/>
        <p:txBody>
          <a:bodyPr/>
          <a:lstStyle/>
          <a:p>
            <a:fld id="{6200E4C3-34F6-DE45-A4C6-A49633FDBADA}" type="slidenum">
              <a:rPr lang="en-US" smtClean="0"/>
              <a:t>11</a:t>
            </a:fld>
            <a:endParaRPr lang="en-US"/>
          </a:p>
        </p:txBody>
      </p:sp>
      <p:sp>
        <p:nvSpPr>
          <p:cNvPr id="3" name="Content Placeholder 2">
            <a:extLst>
              <a:ext uri="{FF2B5EF4-FFF2-40B4-BE49-F238E27FC236}">
                <a16:creationId xmlns:a16="http://schemas.microsoft.com/office/drawing/2014/main" id="{DBAA9CC0-7998-722B-7DCB-84034A9CA555}"/>
              </a:ext>
            </a:extLst>
          </p:cNvPr>
          <p:cNvSpPr>
            <a:spLocks noGrp="1"/>
          </p:cNvSpPr>
          <p:nvPr>
            <p:ph idx="1"/>
          </p:nvPr>
        </p:nvSpPr>
        <p:spPr>
          <a:xfrm>
            <a:off x="609600" y="994030"/>
            <a:ext cx="6542098" cy="4525963"/>
          </a:xfrm>
        </p:spPr>
        <p:txBody>
          <a:bodyPr/>
          <a:lstStyle/>
          <a:p>
            <a:r>
              <a:rPr lang="en-US" dirty="0"/>
              <a:t>[O.1] Track local max with rolling window in shared memory</a:t>
            </a:r>
          </a:p>
          <a:p>
            <a:r>
              <a:rPr lang="en-US" dirty="0"/>
              <a:t>[O.2] Sliced Diagonal Strategy</a:t>
            </a:r>
          </a:p>
          <a:p>
            <a:pPr lvl="1"/>
            <a:r>
              <a:rPr lang="en-US" dirty="0"/>
              <a:t>Change the compute order from horizontal to anti-diagonal </a:t>
            </a:r>
          </a:p>
          <a:p>
            <a:r>
              <a:rPr lang="en-US" dirty="0"/>
              <a:t>[O.3] </a:t>
            </a:r>
            <a:r>
              <a:rPr lang="en-US" dirty="0" err="1"/>
              <a:t>Subwarp</a:t>
            </a:r>
            <a:r>
              <a:rPr lang="en-US" dirty="0"/>
              <a:t> rejoining</a:t>
            </a:r>
          </a:p>
          <a:p>
            <a:pPr lvl="1"/>
            <a:r>
              <a:rPr lang="en-US" dirty="0"/>
              <a:t>Work stealing method to let idle </a:t>
            </a:r>
            <a:r>
              <a:rPr lang="en-US" dirty="0" err="1"/>
              <a:t>subwarp</a:t>
            </a:r>
            <a:r>
              <a:rPr lang="en-US" dirty="0"/>
              <a:t> help busy </a:t>
            </a:r>
            <a:r>
              <a:rPr lang="en-US" dirty="0" err="1"/>
              <a:t>subwarp</a:t>
            </a:r>
            <a:endParaRPr lang="en-US" dirty="0"/>
          </a:p>
          <a:p>
            <a:r>
              <a:rPr lang="en-US" dirty="0"/>
              <a:t>[O.4] Uneven bucketing</a:t>
            </a:r>
          </a:p>
          <a:p>
            <a:pPr lvl="1"/>
            <a:r>
              <a:rPr lang="en-US" dirty="0"/>
              <a:t>Sort and redistribute workload evenly</a:t>
            </a:r>
          </a:p>
        </p:txBody>
      </p:sp>
      <p:sp>
        <p:nvSpPr>
          <p:cNvPr id="4" name="Title 3">
            <a:extLst>
              <a:ext uri="{FF2B5EF4-FFF2-40B4-BE49-F238E27FC236}">
                <a16:creationId xmlns:a16="http://schemas.microsoft.com/office/drawing/2014/main" id="{3E1BA517-3DFE-7D78-A15E-D5B066E71F9A}"/>
              </a:ext>
            </a:extLst>
          </p:cNvPr>
          <p:cNvSpPr>
            <a:spLocks noGrp="1"/>
          </p:cNvSpPr>
          <p:nvPr>
            <p:ph type="title"/>
          </p:nvPr>
        </p:nvSpPr>
        <p:spPr/>
        <p:txBody>
          <a:bodyPr/>
          <a:lstStyle/>
          <a:p>
            <a:r>
              <a:rPr lang="en-US" dirty="0"/>
              <a:t>AGATHA: Optimization</a:t>
            </a:r>
          </a:p>
        </p:txBody>
      </p:sp>
      <p:pic>
        <p:nvPicPr>
          <p:cNvPr id="5" name="Picture 4">
            <a:extLst>
              <a:ext uri="{FF2B5EF4-FFF2-40B4-BE49-F238E27FC236}">
                <a16:creationId xmlns:a16="http://schemas.microsoft.com/office/drawing/2014/main" id="{C66626BB-F7A5-E423-C45C-59006D8CE2CA}"/>
              </a:ext>
            </a:extLst>
          </p:cNvPr>
          <p:cNvPicPr>
            <a:picLocks noChangeAspect="1"/>
          </p:cNvPicPr>
          <p:nvPr/>
        </p:nvPicPr>
        <p:blipFill>
          <a:blip r:embed="rId2"/>
          <a:stretch>
            <a:fillRect/>
          </a:stretch>
        </p:blipFill>
        <p:spPr>
          <a:xfrm>
            <a:off x="6888836" y="130897"/>
            <a:ext cx="5158597" cy="1952240"/>
          </a:xfrm>
          <a:prstGeom prst="rect">
            <a:avLst/>
          </a:prstGeom>
        </p:spPr>
      </p:pic>
      <p:pic>
        <p:nvPicPr>
          <p:cNvPr id="6" name="Picture 5">
            <a:extLst>
              <a:ext uri="{FF2B5EF4-FFF2-40B4-BE49-F238E27FC236}">
                <a16:creationId xmlns:a16="http://schemas.microsoft.com/office/drawing/2014/main" id="{BFE35B61-70B5-E99D-07E3-6E992EC69706}"/>
              </a:ext>
            </a:extLst>
          </p:cNvPr>
          <p:cNvPicPr>
            <a:picLocks noChangeAspect="1"/>
          </p:cNvPicPr>
          <p:nvPr/>
        </p:nvPicPr>
        <p:blipFill>
          <a:blip r:embed="rId3"/>
          <a:stretch>
            <a:fillRect/>
          </a:stretch>
        </p:blipFill>
        <p:spPr>
          <a:xfrm>
            <a:off x="7715082" y="3633376"/>
            <a:ext cx="4146457" cy="2562497"/>
          </a:xfrm>
          <a:prstGeom prst="rect">
            <a:avLst/>
          </a:prstGeom>
        </p:spPr>
      </p:pic>
    </p:spTree>
    <p:extLst>
      <p:ext uri="{BB962C8B-B14F-4D97-AF65-F5344CB8AC3E}">
        <p14:creationId xmlns:p14="http://schemas.microsoft.com/office/powerpoint/2010/main" val="661548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1AD677-02B1-A523-4999-3F06467A52CD}"/>
              </a:ext>
            </a:extLst>
          </p:cNvPr>
          <p:cNvSpPr>
            <a:spLocks noGrp="1"/>
          </p:cNvSpPr>
          <p:nvPr>
            <p:ph type="sldNum" sz="quarter" idx="12"/>
          </p:nvPr>
        </p:nvSpPr>
        <p:spPr/>
        <p:txBody>
          <a:bodyPr/>
          <a:lstStyle/>
          <a:p>
            <a:fld id="{6200E4C3-34F6-DE45-A4C6-A49633FDBADA}" type="slidenum">
              <a:rPr lang="en-US" smtClean="0"/>
              <a:t>12</a:t>
            </a:fld>
            <a:endParaRPr lang="en-US"/>
          </a:p>
        </p:txBody>
      </p:sp>
      <p:sp>
        <p:nvSpPr>
          <p:cNvPr id="3" name="Content Placeholder 2">
            <a:extLst>
              <a:ext uri="{FF2B5EF4-FFF2-40B4-BE49-F238E27FC236}">
                <a16:creationId xmlns:a16="http://schemas.microsoft.com/office/drawing/2014/main" id="{EC826C46-0DA6-D5E2-7D41-8100D91D8B69}"/>
              </a:ext>
            </a:extLst>
          </p:cNvPr>
          <p:cNvSpPr>
            <a:spLocks noGrp="1"/>
          </p:cNvSpPr>
          <p:nvPr>
            <p:ph idx="1"/>
          </p:nvPr>
        </p:nvSpPr>
        <p:spPr/>
        <p:txBody>
          <a:bodyPr/>
          <a:lstStyle/>
          <a:p>
            <a:r>
              <a:rPr lang="en-US" dirty="0"/>
              <a:t>Parallel Scheme</a:t>
            </a:r>
          </a:p>
          <a:p>
            <a:pPr lvl="1"/>
            <a:r>
              <a:rPr lang="en-US" dirty="0"/>
              <a:t>Inter-sequence: each pair is mapped to a block</a:t>
            </a:r>
          </a:p>
          <a:p>
            <a:pPr lvl="1"/>
            <a:r>
              <a:rPr lang="en-US" dirty="0"/>
              <a:t>Intra-sequence: within a block, threads work collaboratively on the same anti-diagonal wavefront</a:t>
            </a:r>
          </a:p>
          <a:p>
            <a:pPr lvl="1"/>
            <a:r>
              <a:rPr lang="en-US" dirty="0"/>
              <a:t>Progress towards the direction of anti-diagonal</a:t>
            </a:r>
          </a:p>
          <a:p>
            <a:r>
              <a:rPr lang="en-US" dirty="0"/>
              <a:t>Input packing</a:t>
            </a:r>
          </a:p>
          <a:p>
            <a:r>
              <a:rPr lang="en-US" dirty="0"/>
              <a:t>Ring-buffer to store part of DP matrices</a:t>
            </a:r>
          </a:p>
        </p:txBody>
      </p:sp>
      <p:sp>
        <p:nvSpPr>
          <p:cNvPr id="4" name="Title 3">
            <a:extLst>
              <a:ext uri="{FF2B5EF4-FFF2-40B4-BE49-F238E27FC236}">
                <a16:creationId xmlns:a16="http://schemas.microsoft.com/office/drawing/2014/main" id="{583168DA-02CD-979B-0993-ECCB5D3C3B9C}"/>
              </a:ext>
            </a:extLst>
          </p:cNvPr>
          <p:cNvSpPr>
            <a:spLocks noGrp="1"/>
          </p:cNvSpPr>
          <p:nvPr>
            <p:ph type="title"/>
          </p:nvPr>
        </p:nvSpPr>
        <p:spPr/>
        <p:txBody>
          <a:bodyPr/>
          <a:lstStyle/>
          <a:p>
            <a:r>
              <a:rPr lang="en-US" dirty="0"/>
              <a:t>Triton kernel for guided DP</a:t>
            </a:r>
          </a:p>
        </p:txBody>
      </p:sp>
    </p:spTree>
    <p:extLst>
      <p:ext uri="{BB962C8B-B14F-4D97-AF65-F5344CB8AC3E}">
        <p14:creationId xmlns:p14="http://schemas.microsoft.com/office/powerpoint/2010/main" val="2944336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B590E-A3F7-23A6-C9AD-EA1C6BC6823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00E4C3-34F6-DE45-A4C6-A49633FDBADA}" type="slidenum">
              <a:rPr kumimoji="0" lang="en-US" sz="1200" b="0" i="0" u="none" strike="noStrike" kern="1200" cap="none" spc="0" normalizeH="0" baseline="0" noProof="0" smtClean="0">
                <a:ln>
                  <a:noFill/>
                </a:ln>
                <a:solidFill>
                  <a:srgbClr val="000000">
                    <a:tint val="75000"/>
                  </a:srgbClr>
                </a:solidFill>
                <a:effectLst/>
                <a:uLnTx/>
                <a:uFillTx/>
                <a:latin typeface="Calisto M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000000">
                  <a:tint val="75000"/>
                </a:srgbClr>
              </a:solidFill>
              <a:effectLst/>
              <a:uLnTx/>
              <a:uFillTx/>
              <a:latin typeface="Calisto MT"/>
              <a:ea typeface="+mn-ea"/>
              <a:cs typeface="+mn-cs"/>
            </a:endParaRPr>
          </a:p>
        </p:txBody>
      </p:sp>
      <p:sp>
        <p:nvSpPr>
          <p:cNvPr id="3" name="Content Placeholder 2">
            <a:extLst>
              <a:ext uri="{FF2B5EF4-FFF2-40B4-BE49-F238E27FC236}">
                <a16:creationId xmlns:a16="http://schemas.microsoft.com/office/drawing/2014/main" id="{5EA63062-E779-196B-F5B1-B60E9D36F098}"/>
              </a:ext>
            </a:extLst>
          </p:cNvPr>
          <p:cNvSpPr>
            <a:spLocks noGrp="1"/>
          </p:cNvSpPr>
          <p:nvPr>
            <p:ph idx="1"/>
          </p:nvPr>
        </p:nvSpPr>
        <p:spPr/>
        <p:txBody>
          <a:bodyPr/>
          <a:lstStyle/>
          <a:p>
            <a:r>
              <a:rPr lang="en-US" dirty="0"/>
              <a:t>GPU: A100</a:t>
            </a:r>
          </a:p>
          <a:p>
            <a:r>
              <a:rPr lang="en-US" dirty="0"/>
              <a:t>Dataset: 16384 pairs (HiFi HG005 sample), used by AGATHA in their paper.</a:t>
            </a:r>
          </a:p>
          <a:p>
            <a:endParaRPr lang="en-US" dirty="0"/>
          </a:p>
          <a:p>
            <a:endParaRPr lang="en-US" dirty="0"/>
          </a:p>
          <a:p>
            <a:endParaRPr lang="en-US" dirty="0"/>
          </a:p>
          <a:p>
            <a:endParaRPr lang="en-US" dirty="0"/>
          </a:p>
          <a:p>
            <a:endParaRPr lang="en-US" dirty="0"/>
          </a:p>
        </p:txBody>
      </p:sp>
      <p:sp>
        <p:nvSpPr>
          <p:cNvPr id="4" name="Title 3">
            <a:extLst>
              <a:ext uri="{FF2B5EF4-FFF2-40B4-BE49-F238E27FC236}">
                <a16:creationId xmlns:a16="http://schemas.microsoft.com/office/drawing/2014/main" id="{152EA08C-3B36-F10A-FA92-EFDEE5398C76}"/>
              </a:ext>
            </a:extLst>
          </p:cNvPr>
          <p:cNvSpPr>
            <a:spLocks noGrp="1"/>
          </p:cNvSpPr>
          <p:nvPr>
            <p:ph type="title"/>
          </p:nvPr>
        </p:nvSpPr>
        <p:spPr/>
        <p:txBody>
          <a:bodyPr/>
          <a:lstStyle/>
          <a:p>
            <a:r>
              <a:rPr lang="en-US" dirty="0"/>
              <a:t>Result: Performance &amp; Programming Effort</a:t>
            </a:r>
          </a:p>
        </p:txBody>
      </p:sp>
      <p:graphicFrame>
        <p:nvGraphicFramePr>
          <p:cNvPr id="5" name="Content Placeholder 5">
            <a:extLst>
              <a:ext uri="{FF2B5EF4-FFF2-40B4-BE49-F238E27FC236}">
                <a16:creationId xmlns:a16="http://schemas.microsoft.com/office/drawing/2014/main" id="{769E819A-51C9-F0DF-21BE-89ED1FA537B8}"/>
              </a:ext>
            </a:extLst>
          </p:cNvPr>
          <p:cNvGraphicFramePr>
            <a:graphicFrameLocks/>
          </p:cNvGraphicFramePr>
          <p:nvPr>
            <p:extLst>
              <p:ext uri="{D42A27DB-BD31-4B8C-83A1-F6EECF244321}">
                <p14:modId xmlns:p14="http://schemas.microsoft.com/office/powerpoint/2010/main" val="2306045580"/>
              </p:ext>
            </p:extLst>
          </p:nvPr>
        </p:nvGraphicFramePr>
        <p:xfrm>
          <a:off x="985317" y="2053957"/>
          <a:ext cx="10472105" cy="1375043"/>
        </p:xfrm>
        <a:graphic>
          <a:graphicData uri="http://schemas.openxmlformats.org/drawingml/2006/table">
            <a:tbl>
              <a:tblPr firstRow="1" bandRow="1">
                <a:tableStyleId>{5C22544A-7EE6-4342-B048-85BDC9FD1C3A}</a:tableStyleId>
              </a:tblPr>
              <a:tblGrid>
                <a:gridCol w="1956256">
                  <a:extLst>
                    <a:ext uri="{9D8B030D-6E8A-4147-A177-3AD203B41FA5}">
                      <a16:colId xmlns:a16="http://schemas.microsoft.com/office/drawing/2014/main" val="1172965040"/>
                    </a:ext>
                  </a:extLst>
                </a:gridCol>
                <a:gridCol w="1956256">
                  <a:extLst>
                    <a:ext uri="{9D8B030D-6E8A-4147-A177-3AD203B41FA5}">
                      <a16:colId xmlns:a16="http://schemas.microsoft.com/office/drawing/2014/main" val="3705236428"/>
                    </a:ext>
                  </a:extLst>
                </a:gridCol>
                <a:gridCol w="2186531">
                  <a:extLst>
                    <a:ext uri="{9D8B030D-6E8A-4147-A177-3AD203B41FA5}">
                      <a16:colId xmlns:a16="http://schemas.microsoft.com/office/drawing/2014/main" val="4232938366"/>
                    </a:ext>
                  </a:extLst>
                </a:gridCol>
                <a:gridCol w="2186531">
                  <a:extLst>
                    <a:ext uri="{9D8B030D-6E8A-4147-A177-3AD203B41FA5}">
                      <a16:colId xmlns:a16="http://schemas.microsoft.com/office/drawing/2014/main" val="2064985719"/>
                    </a:ext>
                  </a:extLst>
                </a:gridCol>
                <a:gridCol w="2186531">
                  <a:extLst>
                    <a:ext uri="{9D8B030D-6E8A-4147-A177-3AD203B41FA5}">
                      <a16:colId xmlns:a16="http://schemas.microsoft.com/office/drawing/2014/main" val="3119125437"/>
                    </a:ext>
                  </a:extLst>
                </a:gridCol>
              </a:tblGrid>
              <a:tr h="638635">
                <a:tc>
                  <a:txBody>
                    <a:bodyPr/>
                    <a:lstStyle/>
                    <a:p>
                      <a:endParaRPr lang="en-US" dirty="0"/>
                    </a:p>
                  </a:txBody>
                  <a:tcPr/>
                </a:tc>
                <a:tc>
                  <a:txBody>
                    <a:bodyPr/>
                    <a:lstStyle/>
                    <a:p>
                      <a:r>
                        <a:rPr lang="en-US" dirty="0"/>
                        <a:t>Kernel Time (</a:t>
                      </a:r>
                      <a:r>
                        <a:rPr lang="en-US" dirty="0" err="1"/>
                        <a:t>ms</a:t>
                      </a:r>
                      <a:r>
                        <a:rPr lang="en-US" dirty="0"/>
                        <a:t>)</a:t>
                      </a:r>
                    </a:p>
                  </a:txBody>
                  <a:tcPr/>
                </a:tc>
                <a:tc>
                  <a:txBody>
                    <a:bodyPr/>
                    <a:lstStyle/>
                    <a:p>
                      <a:r>
                        <a:rPr lang="en-US" dirty="0"/>
                        <a:t>Total Time (</a:t>
                      </a:r>
                      <a:r>
                        <a:rPr lang="en-US" dirty="0" err="1"/>
                        <a:t>ms</a:t>
                      </a:r>
                      <a:r>
                        <a:rPr lang="en-US" dirty="0"/>
                        <a:t>)</a:t>
                      </a:r>
                    </a:p>
                  </a:txBody>
                  <a:tcPr/>
                </a:tc>
                <a:tc>
                  <a:txBody>
                    <a:bodyPr/>
                    <a:lstStyle/>
                    <a:p>
                      <a:r>
                        <a:rPr lang="en-US" dirty="0"/>
                        <a:t>Kernel LoC</a:t>
                      </a:r>
                    </a:p>
                  </a:txBody>
                  <a:tcPr/>
                </a:tc>
                <a:tc>
                  <a:txBody>
                    <a:bodyPr/>
                    <a:lstStyle/>
                    <a:p>
                      <a:r>
                        <a:rPr lang="en-US" dirty="0"/>
                        <a:t>Total LoC</a:t>
                      </a:r>
                    </a:p>
                  </a:txBody>
                  <a:tcPr/>
                </a:tc>
                <a:extLst>
                  <a:ext uri="{0D108BD9-81ED-4DB2-BD59-A6C34878D82A}">
                    <a16:rowId xmlns:a16="http://schemas.microsoft.com/office/drawing/2014/main" val="2587137456"/>
                  </a:ext>
                </a:extLst>
              </a:tr>
              <a:tr h="368204">
                <a:tc>
                  <a:txBody>
                    <a:bodyPr/>
                    <a:lstStyle/>
                    <a:p>
                      <a:r>
                        <a:rPr lang="en-US" dirty="0"/>
                        <a:t>AGATHA</a:t>
                      </a:r>
                    </a:p>
                  </a:txBody>
                  <a:tcPr/>
                </a:tc>
                <a:tc>
                  <a:txBody>
                    <a:bodyPr/>
                    <a:lstStyle/>
                    <a:p>
                      <a:r>
                        <a:rPr lang="en-US" dirty="0"/>
                        <a:t>126</a:t>
                      </a:r>
                    </a:p>
                  </a:txBody>
                  <a:tcPr/>
                </a:tc>
                <a:tc>
                  <a:txBody>
                    <a:bodyPr/>
                    <a:lstStyle/>
                    <a:p>
                      <a:r>
                        <a:rPr lang="en-US" dirty="0"/>
                        <a:t>268</a:t>
                      </a:r>
                    </a:p>
                  </a:txBody>
                  <a:tcPr/>
                </a:tc>
                <a:tc>
                  <a:txBody>
                    <a:bodyPr/>
                    <a:lstStyle/>
                    <a:p>
                      <a:r>
                        <a:rPr lang="en-US" dirty="0"/>
                        <a:t>~1000</a:t>
                      </a:r>
                    </a:p>
                  </a:txBody>
                  <a:tcPr/>
                </a:tc>
                <a:tc>
                  <a:txBody>
                    <a:bodyPr/>
                    <a:lstStyle/>
                    <a:p>
                      <a:r>
                        <a:rPr lang="en-US" dirty="0"/>
                        <a:t>~2000</a:t>
                      </a:r>
                    </a:p>
                  </a:txBody>
                  <a:tcPr/>
                </a:tc>
                <a:extLst>
                  <a:ext uri="{0D108BD9-81ED-4DB2-BD59-A6C34878D82A}">
                    <a16:rowId xmlns:a16="http://schemas.microsoft.com/office/drawing/2014/main" val="1597470422"/>
                  </a:ext>
                </a:extLst>
              </a:tr>
              <a:tr h="368204">
                <a:tc>
                  <a:txBody>
                    <a:bodyPr/>
                    <a:lstStyle/>
                    <a:p>
                      <a:r>
                        <a:rPr lang="en-US" altLang="zh-CN" dirty="0"/>
                        <a:t>Triton-seq</a:t>
                      </a:r>
                      <a:endParaRPr lang="en-US" dirty="0"/>
                    </a:p>
                  </a:txBody>
                  <a:tcPr/>
                </a:tc>
                <a:tc>
                  <a:txBody>
                    <a:bodyPr/>
                    <a:lstStyle/>
                    <a:p>
                      <a:r>
                        <a:rPr lang="en-US" dirty="0"/>
                        <a:t>138 </a:t>
                      </a:r>
                      <a:r>
                        <a:rPr lang="en-US" dirty="0">
                          <a:solidFill>
                            <a:schemeClr val="tx1"/>
                          </a:solidFill>
                        </a:rPr>
                        <a:t>(</a:t>
                      </a:r>
                      <a:r>
                        <a:rPr lang="en-US" dirty="0">
                          <a:solidFill>
                            <a:srgbClr val="FF0000"/>
                          </a:solidFill>
                        </a:rPr>
                        <a:t>+9%</a:t>
                      </a:r>
                      <a:r>
                        <a:rPr lang="en-US" dirty="0"/>
                        <a:t>)</a:t>
                      </a:r>
                    </a:p>
                  </a:txBody>
                  <a:tcPr/>
                </a:tc>
                <a:tc>
                  <a:txBody>
                    <a:bodyPr/>
                    <a:lstStyle/>
                    <a:p>
                      <a:r>
                        <a:rPr lang="en-US" dirty="0"/>
                        <a:t>182 (</a:t>
                      </a:r>
                      <a:r>
                        <a:rPr lang="en-US" dirty="0">
                          <a:solidFill>
                            <a:srgbClr val="00B050"/>
                          </a:solidFill>
                        </a:rPr>
                        <a:t>-32%</a:t>
                      </a:r>
                      <a:r>
                        <a:rPr lang="en-US" dirty="0"/>
                        <a:t>)</a:t>
                      </a:r>
                    </a:p>
                  </a:txBody>
                  <a:tcPr/>
                </a:tc>
                <a:tc>
                  <a:txBody>
                    <a:bodyPr/>
                    <a:lstStyle/>
                    <a:p>
                      <a:r>
                        <a:rPr lang="en-US" dirty="0"/>
                        <a:t>~200</a:t>
                      </a:r>
                    </a:p>
                  </a:txBody>
                  <a:tcPr/>
                </a:tc>
                <a:tc>
                  <a:txBody>
                    <a:bodyPr/>
                    <a:lstStyle/>
                    <a:p>
                      <a:r>
                        <a:rPr lang="en-US" dirty="0"/>
                        <a:t>400</a:t>
                      </a:r>
                    </a:p>
                  </a:txBody>
                  <a:tcPr/>
                </a:tc>
                <a:extLst>
                  <a:ext uri="{0D108BD9-81ED-4DB2-BD59-A6C34878D82A}">
                    <a16:rowId xmlns:a16="http://schemas.microsoft.com/office/drawing/2014/main" val="595866579"/>
                  </a:ext>
                </a:extLst>
              </a:tr>
            </a:tbl>
          </a:graphicData>
        </a:graphic>
      </p:graphicFrame>
      <p:pic>
        <p:nvPicPr>
          <p:cNvPr id="7" name="Picture 6">
            <a:extLst>
              <a:ext uri="{FF2B5EF4-FFF2-40B4-BE49-F238E27FC236}">
                <a16:creationId xmlns:a16="http://schemas.microsoft.com/office/drawing/2014/main" id="{19ABAEC2-1D52-84EA-3192-B8653F27112A}"/>
              </a:ext>
            </a:extLst>
          </p:cNvPr>
          <p:cNvPicPr>
            <a:picLocks noChangeAspect="1"/>
          </p:cNvPicPr>
          <p:nvPr/>
        </p:nvPicPr>
        <p:blipFill>
          <a:blip r:embed="rId3"/>
          <a:stretch>
            <a:fillRect/>
          </a:stretch>
        </p:blipFill>
        <p:spPr>
          <a:xfrm>
            <a:off x="1642772" y="3608163"/>
            <a:ext cx="9246901" cy="3225987"/>
          </a:xfrm>
          <a:prstGeom prst="rect">
            <a:avLst/>
          </a:prstGeom>
        </p:spPr>
      </p:pic>
    </p:spTree>
    <p:extLst>
      <p:ext uri="{BB962C8B-B14F-4D97-AF65-F5344CB8AC3E}">
        <p14:creationId xmlns:p14="http://schemas.microsoft.com/office/powerpoint/2010/main" val="1811249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EB547D-3A25-009F-0274-80E0F65D8418}"/>
              </a:ext>
            </a:extLst>
          </p:cNvPr>
          <p:cNvSpPr>
            <a:spLocks noGrp="1"/>
          </p:cNvSpPr>
          <p:nvPr>
            <p:ph type="sldNum" sz="quarter" idx="12"/>
          </p:nvPr>
        </p:nvSpPr>
        <p:spPr/>
        <p:txBody>
          <a:bodyPr/>
          <a:lstStyle/>
          <a:p>
            <a:fld id="{6200E4C3-34F6-DE45-A4C6-A49633FDBADA}" type="slidenum">
              <a:rPr lang="en-US" smtClean="0"/>
              <a:t>14</a:t>
            </a:fld>
            <a:endParaRPr lang="en-US"/>
          </a:p>
        </p:txBody>
      </p:sp>
      <p:sp>
        <p:nvSpPr>
          <p:cNvPr id="3" name="Content Placeholder 2">
            <a:extLst>
              <a:ext uri="{FF2B5EF4-FFF2-40B4-BE49-F238E27FC236}">
                <a16:creationId xmlns:a16="http://schemas.microsoft.com/office/drawing/2014/main" id="{BE9AB83C-A450-6FA3-2DAD-FDA23DD18731}"/>
              </a:ext>
            </a:extLst>
          </p:cNvPr>
          <p:cNvSpPr>
            <a:spLocks noGrp="1"/>
          </p:cNvSpPr>
          <p:nvPr>
            <p:ph idx="1"/>
          </p:nvPr>
        </p:nvSpPr>
        <p:spPr/>
        <p:txBody>
          <a:bodyPr/>
          <a:lstStyle/>
          <a:p>
            <a:r>
              <a:rPr lang="en-US" dirty="0"/>
              <a:t>A larger and more imbalanced dataset (extracted using minimap2)</a:t>
            </a:r>
          </a:p>
          <a:p>
            <a:pPr lvl="1"/>
            <a:r>
              <a:rPr lang="en-US" dirty="0"/>
              <a:t>78035 pairs with longer sequence length</a:t>
            </a:r>
          </a:p>
          <a:p>
            <a:endParaRPr lang="en-US" dirty="0"/>
          </a:p>
        </p:txBody>
      </p:sp>
      <p:sp>
        <p:nvSpPr>
          <p:cNvPr id="4" name="Title 3">
            <a:extLst>
              <a:ext uri="{FF2B5EF4-FFF2-40B4-BE49-F238E27FC236}">
                <a16:creationId xmlns:a16="http://schemas.microsoft.com/office/drawing/2014/main" id="{C4E9CBC9-0DAF-7EE3-EC25-8ED365F88DA3}"/>
              </a:ext>
            </a:extLst>
          </p:cNvPr>
          <p:cNvSpPr>
            <a:spLocks noGrp="1"/>
          </p:cNvSpPr>
          <p:nvPr>
            <p:ph type="title"/>
          </p:nvPr>
        </p:nvSpPr>
        <p:spPr/>
        <p:txBody>
          <a:bodyPr/>
          <a:lstStyle/>
          <a:p>
            <a:r>
              <a:rPr lang="en-US" dirty="0"/>
              <a:t>Result: on a larger &amp; imbalanced dataset</a:t>
            </a:r>
          </a:p>
        </p:txBody>
      </p:sp>
      <p:graphicFrame>
        <p:nvGraphicFramePr>
          <p:cNvPr id="5" name="Content Placeholder 5">
            <a:extLst>
              <a:ext uri="{FF2B5EF4-FFF2-40B4-BE49-F238E27FC236}">
                <a16:creationId xmlns:a16="http://schemas.microsoft.com/office/drawing/2014/main" id="{A15B1A58-644F-B8BC-8139-6FF88E3FA55D}"/>
              </a:ext>
            </a:extLst>
          </p:cNvPr>
          <p:cNvGraphicFramePr>
            <a:graphicFrameLocks/>
          </p:cNvGraphicFramePr>
          <p:nvPr>
            <p:extLst>
              <p:ext uri="{D42A27DB-BD31-4B8C-83A1-F6EECF244321}">
                <p14:modId xmlns:p14="http://schemas.microsoft.com/office/powerpoint/2010/main" val="1014214265"/>
              </p:ext>
            </p:extLst>
          </p:nvPr>
        </p:nvGraphicFramePr>
        <p:xfrm>
          <a:off x="2362855" y="5506085"/>
          <a:ext cx="6147843" cy="1112520"/>
        </p:xfrm>
        <a:graphic>
          <a:graphicData uri="http://schemas.openxmlformats.org/drawingml/2006/table">
            <a:tbl>
              <a:tblPr firstRow="1" bandRow="1">
                <a:tableStyleId>{5C22544A-7EE6-4342-B048-85BDC9FD1C3A}</a:tableStyleId>
              </a:tblPr>
              <a:tblGrid>
                <a:gridCol w="1971909">
                  <a:extLst>
                    <a:ext uri="{9D8B030D-6E8A-4147-A177-3AD203B41FA5}">
                      <a16:colId xmlns:a16="http://schemas.microsoft.com/office/drawing/2014/main" val="1172965040"/>
                    </a:ext>
                  </a:extLst>
                </a:gridCol>
                <a:gridCol w="1971909">
                  <a:extLst>
                    <a:ext uri="{9D8B030D-6E8A-4147-A177-3AD203B41FA5}">
                      <a16:colId xmlns:a16="http://schemas.microsoft.com/office/drawing/2014/main" val="3705236428"/>
                    </a:ext>
                  </a:extLst>
                </a:gridCol>
                <a:gridCol w="2204025">
                  <a:extLst>
                    <a:ext uri="{9D8B030D-6E8A-4147-A177-3AD203B41FA5}">
                      <a16:colId xmlns:a16="http://schemas.microsoft.com/office/drawing/2014/main" val="4232938366"/>
                    </a:ext>
                  </a:extLst>
                </a:gridCol>
              </a:tblGrid>
              <a:tr h="370840">
                <a:tc>
                  <a:txBody>
                    <a:bodyPr/>
                    <a:lstStyle/>
                    <a:p>
                      <a:endParaRPr lang="en-US" dirty="0"/>
                    </a:p>
                  </a:txBody>
                  <a:tcPr/>
                </a:tc>
                <a:tc>
                  <a:txBody>
                    <a:bodyPr/>
                    <a:lstStyle/>
                    <a:p>
                      <a:r>
                        <a:rPr lang="en-US" dirty="0"/>
                        <a:t>Kernel Time (</a:t>
                      </a:r>
                      <a:r>
                        <a:rPr lang="en-US" dirty="0" err="1"/>
                        <a:t>ms</a:t>
                      </a:r>
                      <a:r>
                        <a:rPr lang="en-US" dirty="0"/>
                        <a:t>)</a:t>
                      </a:r>
                    </a:p>
                  </a:txBody>
                  <a:tcPr/>
                </a:tc>
                <a:tc>
                  <a:txBody>
                    <a:bodyPr/>
                    <a:lstStyle/>
                    <a:p>
                      <a:r>
                        <a:rPr lang="en-US" dirty="0"/>
                        <a:t>Total Time (</a:t>
                      </a:r>
                      <a:r>
                        <a:rPr lang="en-US" dirty="0" err="1"/>
                        <a:t>ms</a:t>
                      </a:r>
                      <a:r>
                        <a:rPr lang="en-US" dirty="0"/>
                        <a:t>)</a:t>
                      </a:r>
                    </a:p>
                  </a:txBody>
                  <a:tcPr/>
                </a:tc>
                <a:extLst>
                  <a:ext uri="{0D108BD9-81ED-4DB2-BD59-A6C34878D82A}">
                    <a16:rowId xmlns:a16="http://schemas.microsoft.com/office/drawing/2014/main" val="2587137456"/>
                  </a:ext>
                </a:extLst>
              </a:tr>
              <a:tr h="370840">
                <a:tc>
                  <a:txBody>
                    <a:bodyPr/>
                    <a:lstStyle/>
                    <a:p>
                      <a:r>
                        <a:rPr lang="en-US" dirty="0"/>
                        <a:t>AGATHA</a:t>
                      </a:r>
                    </a:p>
                  </a:txBody>
                  <a:tcPr/>
                </a:tc>
                <a:tc>
                  <a:txBody>
                    <a:bodyPr/>
                    <a:lstStyle/>
                    <a:p>
                      <a:r>
                        <a:rPr lang="en-US" dirty="0"/>
                        <a:t>5620</a:t>
                      </a:r>
                    </a:p>
                  </a:txBody>
                  <a:tcPr/>
                </a:tc>
                <a:tc>
                  <a:txBody>
                    <a:bodyPr/>
                    <a:lstStyle/>
                    <a:p>
                      <a:r>
                        <a:rPr lang="en-US" dirty="0"/>
                        <a:t>7096</a:t>
                      </a:r>
                    </a:p>
                  </a:txBody>
                  <a:tcPr/>
                </a:tc>
                <a:extLst>
                  <a:ext uri="{0D108BD9-81ED-4DB2-BD59-A6C34878D82A}">
                    <a16:rowId xmlns:a16="http://schemas.microsoft.com/office/drawing/2014/main" val="1597470422"/>
                  </a:ext>
                </a:extLst>
              </a:tr>
              <a:tr h="370840">
                <a:tc>
                  <a:txBody>
                    <a:bodyPr/>
                    <a:lstStyle/>
                    <a:p>
                      <a:r>
                        <a:rPr lang="en-US" altLang="zh-CN" dirty="0"/>
                        <a:t>Triton-seq</a:t>
                      </a:r>
                      <a:endParaRPr lang="en-US" dirty="0"/>
                    </a:p>
                  </a:txBody>
                  <a:tcPr/>
                </a:tc>
                <a:tc>
                  <a:txBody>
                    <a:bodyPr/>
                    <a:lstStyle/>
                    <a:p>
                      <a:r>
                        <a:rPr lang="en-US" dirty="0"/>
                        <a:t>7719 (</a:t>
                      </a:r>
                      <a:r>
                        <a:rPr lang="en-US" dirty="0">
                          <a:solidFill>
                            <a:srgbClr val="FF0000"/>
                          </a:solidFill>
                        </a:rPr>
                        <a:t>+37%</a:t>
                      </a:r>
                      <a:r>
                        <a:rPr lang="en-US" dirty="0"/>
                        <a:t>)</a:t>
                      </a:r>
                    </a:p>
                  </a:txBody>
                  <a:tcPr/>
                </a:tc>
                <a:tc>
                  <a:txBody>
                    <a:bodyPr/>
                    <a:lstStyle/>
                    <a:p>
                      <a:r>
                        <a:rPr lang="en-US" dirty="0"/>
                        <a:t>10085 (</a:t>
                      </a:r>
                      <a:r>
                        <a:rPr lang="en-US" dirty="0">
                          <a:solidFill>
                            <a:srgbClr val="FF0000"/>
                          </a:solidFill>
                        </a:rPr>
                        <a:t>+42%</a:t>
                      </a:r>
                      <a:r>
                        <a:rPr lang="en-US" dirty="0"/>
                        <a:t>)</a:t>
                      </a:r>
                    </a:p>
                  </a:txBody>
                  <a:tcPr/>
                </a:tc>
                <a:extLst>
                  <a:ext uri="{0D108BD9-81ED-4DB2-BD59-A6C34878D82A}">
                    <a16:rowId xmlns:a16="http://schemas.microsoft.com/office/drawing/2014/main" val="595866579"/>
                  </a:ext>
                </a:extLst>
              </a:tr>
            </a:tbl>
          </a:graphicData>
        </a:graphic>
      </p:graphicFrame>
      <p:pic>
        <p:nvPicPr>
          <p:cNvPr id="6" name="Picture 5">
            <a:extLst>
              <a:ext uri="{FF2B5EF4-FFF2-40B4-BE49-F238E27FC236}">
                <a16:creationId xmlns:a16="http://schemas.microsoft.com/office/drawing/2014/main" id="{B380810B-9FDF-2D9F-2DB4-381C354BB9CC}"/>
              </a:ext>
            </a:extLst>
          </p:cNvPr>
          <p:cNvPicPr>
            <a:picLocks noChangeAspect="1"/>
          </p:cNvPicPr>
          <p:nvPr/>
        </p:nvPicPr>
        <p:blipFill>
          <a:blip r:embed="rId2"/>
          <a:stretch>
            <a:fillRect/>
          </a:stretch>
        </p:blipFill>
        <p:spPr>
          <a:xfrm>
            <a:off x="1559260" y="2116103"/>
            <a:ext cx="9073479" cy="3150972"/>
          </a:xfrm>
          <a:prstGeom prst="rect">
            <a:avLst/>
          </a:prstGeom>
        </p:spPr>
      </p:pic>
    </p:spTree>
    <p:extLst>
      <p:ext uri="{BB962C8B-B14F-4D97-AF65-F5344CB8AC3E}">
        <p14:creationId xmlns:p14="http://schemas.microsoft.com/office/powerpoint/2010/main" val="375457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9381B2-0066-0D98-923D-754A07F3AE41}"/>
              </a:ext>
            </a:extLst>
          </p:cNvPr>
          <p:cNvSpPr>
            <a:spLocks noGrp="1"/>
          </p:cNvSpPr>
          <p:nvPr>
            <p:ph type="sldNum" sz="quarter" idx="12"/>
          </p:nvPr>
        </p:nvSpPr>
        <p:spPr/>
        <p:txBody>
          <a:bodyPr/>
          <a:lstStyle/>
          <a:p>
            <a:fld id="{6200E4C3-34F6-DE45-A4C6-A49633FDBADA}" type="slidenum">
              <a:rPr lang="en-US" smtClean="0"/>
              <a:t>15</a:t>
            </a:fld>
            <a:endParaRPr lang="en-US"/>
          </a:p>
        </p:txBody>
      </p:sp>
      <p:sp>
        <p:nvSpPr>
          <p:cNvPr id="3" name="Content Placeholder 2">
            <a:extLst>
              <a:ext uri="{FF2B5EF4-FFF2-40B4-BE49-F238E27FC236}">
                <a16:creationId xmlns:a16="http://schemas.microsoft.com/office/drawing/2014/main" id="{3C1A82B5-4552-4F8E-C8E8-C8B914722E7F}"/>
              </a:ext>
            </a:extLst>
          </p:cNvPr>
          <p:cNvSpPr>
            <a:spLocks noGrp="1"/>
          </p:cNvSpPr>
          <p:nvPr>
            <p:ph idx="1"/>
          </p:nvPr>
        </p:nvSpPr>
        <p:spPr/>
        <p:txBody>
          <a:bodyPr/>
          <a:lstStyle/>
          <a:p>
            <a:r>
              <a:rPr lang="en-US" dirty="0"/>
              <a:t>Triton gives no explicit control of shared memory</a:t>
            </a:r>
          </a:p>
          <a:p>
            <a:r>
              <a:rPr lang="en-US" dirty="0"/>
              <a:t>Manual hack PTX code</a:t>
            </a:r>
          </a:p>
        </p:txBody>
      </p:sp>
      <p:sp>
        <p:nvSpPr>
          <p:cNvPr id="4" name="Title 3">
            <a:extLst>
              <a:ext uri="{FF2B5EF4-FFF2-40B4-BE49-F238E27FC236}">
                <a16:creationId xmlns:a16="http://schemas.microsoft.com/office/drawing/2014/main" id="{924936E5-E6FA-70E0-F35A-EF9F9E071D8E}"/>
              </a:ext>
            </a:extLst>
          </p:cNvPr>
          <p:cNvSpPr>
            <a:spLocks noGrp="1"/>
          </p:cNvSpPr>
          <p:nvPr>
            <p:ph type="title"/>
          </p:nvPr>
        </p:nvSpPr>
        <p:spPr/>
        <p:txBody>
          <a:bodyPr/>
          <a:lstStyle/>
          <a:p>
            <a:r>
              <a:rPr lang="en-US" dirty="0"/>
              <a:t>PTX hack to use shared memory instead of global memory</a:t>
            </a:r>
          </a:p>
        </p:txBody>
      </p:sp>
      <p:graphicFrame>
        <p:nvGraphicFramePr>
          <p:cNvPr id="5" name="Content Placeholder 5">
            <a:extLst>
              <a:ext uri="{FF2B5EF4-FFF2-40B4-BE49-F238E27FC236}">
                <a16:creationId xmlns:a16="http://schemas.microsoft.com/office/drawing/2014/main" id="{81242E80-7D4B-962F-1E42-98C750E9B3A0}"/>
              </a:ext>
            </a:extLst>
          </p:cNvPr>
          <p:cNvGraphicFramePr>
            <a:graphicFrameLocks/>
          </p:cNvGraphicFramePr>
          <p:nvPr>
            <p:extLst>
              <p:ext uri="{D42A27DB-BD31-4B8C-83A1-F6EECF244321}">
                <p14:modId xmlns:p14="http://schemas.microsoft.com/office/powerpoint/2010/main" val="3109353886"/>
              </p:ext>
            </p:extLst>
          </p:nvPr>
        </p:nvGraphicFramePr>
        <p:xfrm>
          <a:off x="1135910" y="2732749"/>
          <a:ext cx="8849823" cy="2787244"/>
        </p:xfrm>
        <a:graphic>
          <a:graphicData uri="http://schemas.openxmlformats.org/drawingml/2006/table">
            <a:tbl>
              <a:tblPr firstRow="1" bandRow="1">
                <a:tableStyleId>{5C22544A-7EE6-4342-B048-85BDC9FD1C3A}</a:tableStyleId>
              </a:tblPr>
              <a:tblGrid>
                <a:gridCol w="3617759">
                  <a:extLst>
                    <a:ext uri="{9D8B030D-6E8A-4147-A177-3AD203B41FA5}">
                      <a16:colId xmlns:a16="http://schemas.microsoft.com/office/drawing/2014/main" val="1172965040"/>
                    </a:ext>
                  </a:extLst>
                </a:gridCol>
                <a:gridCol w="2629459">
                  <a:extLst>
                    <a:ext uri="{9D8B030D-6E8A-4147-A177-3AD203B41FA5}">
                      <a16:colId xmlns:a16="http://schemas.microsoft.com/office/drawing/2014/main" val="3705236428"/>
                    </a:ext>
                  </a:extLst>
                </a:gridCol>
                <a:gridCol w="2602605">
                  <a:extLst>
                    <a:ext uri="{9D8B030D-6E8A-4147-A177-3AD203B41FA5}">
                      <a16:colId xmlns:a16="http://schemas.microsoft.com/office/drawing/2014/main" val="4232938366"/>
                    </a:ext>
                  </a:extLst>
                </a:gridCol>
              </a:tblGrid>
              <a:tr h="695431">
                <a:tc>
                  <a:txBody>
                    <a:bodyPr/>
                    <a:lstStyle/>
                    <a:p>
                      <a:endParaRPr lang="en-US" dirty="0"/>
                    </a:p>
                  </a:txBody>
                  <a:tcPr/>
                </a:tc>
                <a:tc>
                  <a:txBody>
                    <a:bodyPr/>
                    <a:lstStyle/>
                    <a:p>
                      <a:r>
                        <a:rPr lang="en-US" dirty="0"/>
                        <a:t>Kernel Time (</a:t>
                      </a:r>
                      <a:r>
                        <a:rPr lang="en-US" dirty="0" err="1"/>
                        <a:t>ms</a:t>
                      </a:r>
                      <a:r>
                        <a:rPr lang="en-US" dirty="0"/>
                        <a:t>) </a:t>
                      </a:r>
                      <a:br>
                        <a:rPr lang="en-US" dirty="0"/>
                      </a:br>
                      <a:r>
                        <a:rPr lang="en-US" dirty="0"/>
                        <a:t>small dataset</a:t>
                      </a:r>
                    </a:p>
                  </a:txBody>
                  <a:tcPr/>
                </a:tc>
                <a:tc>
                  <a:txBody>
                    <a:bodyPr/>
                    <a:lstStyle/>
                    <a:p>
                      <a:r>
                        <a:rPr lang="en-US" dirty="0"/>
                        <a:t>Kernel Time (</a:t>
                      </a:r>
                      <a:r>
                        <a:rPr lang="en-US" dirty="0" err="1"/>
                        <a:t>ms</a:t>
                      </a:r>
                      <a:r>
                        <a:rPr lang="en-US" dirty="0"/>
                        <a:t>)</a:t>
                      </a:r>
                      <a:br>
                        <a:rPr lang="en-US" dirty="0"/>
                      </a:br>
                      <a:r>
                        <a:rPr lang="en-US" dirty="0"/>
                        <a:t>larger dataset</a:t>
                      </a:r>
                    </a:p>
                  </a:txBody>
                  <a:tcPr/>
                </a:tc>
                <a:extLst>
                  <a:ext uri="{0D108BD9-81ED-4DB2-BD59-A6C34878D82A}">
                    <a16:rowId xmlns:a16="http://schemas.microsoft.com/office/drawing/2014/main" val="2587137456"/>
                  </a:ext>
                </a:extLst>
              </a:tr>
              <a:tr h="402909">
                <a:tc>
                  <a:txBody>
                    <a:bodyPr/>
                    <a:lstStyle/>
                    <a:p>
                      <a:r>
                        <a:rPr lang="en-US" dirty="0"/>
                        <a:t>AGATHA</a:t>
                      </a:r>
                    </a:p>
                  </a:txBody>
                  <a:tcPr/>
                </a:tc>
                <a:tc>
                  <a:txBody>
                    <a:bodyPr/>
                    <a:lstStyle/>
                    <a:p>
                      <a:r>
                        <a:rPr lang="en-US" dirty="0"/>
                        <a:t>126</a:t>
                      </a:r>
                    </a:p>
                  </a:txBody>
                  <a:tcPr/>
                </a:tc>
                <a:tc>
                  <a:txBody>
                    <a:bodyPr/>
                    <a:lstStyle/>
                    <a:p>
                      <a:r>
                        <a:rPr lang="en-US" dirty="0"/>
                        <a:t>5620</a:t>
                      </a:r>
                    </a:p>
                  </a:txBody>
                  <a:tcPr/>
                </a:tc>
                <a:extLst>
                  <a:ext uri="{0D108BD9-81ED-4DB2-BD59-A6C34878D82A}">
                    <a16:rowId xmlns:a16="http://schemas.microsoft.com/office/drawing/2014/main" val="1597470422"/>
                  </a:ext>
                </a:extLst>
              </a:tr>
              <a:tr h="695431">
                <a:tc>
                  <a:txBody>
                    <a:bodyPr/>
                    <a:lstStyle/>
                    <a:p>
                      <a:r>
                        <a:rPr lang="en-US" dirty="0"/>
                        <a:t>Triton-seq (native)</a:t>
                      </a:r>
                    </a:p>
                  </a:txBody>
                  <a:tcPr/>
                </a:tc>
                <a:tc>
                  <a:txBody>
                    <a:bodyPr/>
                    <a:lstStyle/>
                    <a:p>
                      <a:r>
                        <a:rPr lang="en-US" dirty="0"/>
                        <a:t>138 </a:t>
                      </a:r>
                      <a:r>
                        <a:rPr lang="en-US" dirty="0">
                          <a:solidFill>
                            <a:schemeClr val="tx1"/>
                          </a:solidFill>
                        </a:rPr>
                        <a:t>(</a:t>
                      </a:r>
                      <a:r>
                        <a:rPr lang="en-US" dirty="0">
                          <a:solidFill>
                            <a:srgbClr val="FF0000"/>
                          </a:solidFill>
                        </a:rPr>
                        <a:t>+9%</a:t>
                      </a:r>
                      <a:r>
                        <a:rPr lang="en-US" dirty="0"/>
                        <a:t>)</a:t>
                      </a:r>
                    </a:p>
                  </a:txBody>
                  <a:tcPr/>
                </a:tc>
                <a:tc>
                  <a:txBody>
                    <a:bodyPr/>
                    <a:lstStyle/>
                    <a:p>
                      <a:r>
                        <a:rPr lang="en-US" dirty="0"/>
                        <a:t>7719 (</a:t>
                      </a:r>
                      <a:r>
                        <a:rPr lang="en-US" dirty="0">
                          <a:solidFill>
                            <a:srgbClr val="FF0000"/>
                          </a:solidFill>
                        </a:rPr>
                        <a:t>+37%</a:t>
                      </a:r>
                      <a:r>
                        <a:rPr lang="en-US" dirty="0"/>
                        <a:t>)</a:t>
                      </a:r>
                    </a:p>
                  </a:txBody>
                  <a:tcPr/>
                </a:tc>
                <a:extLst>
                  <a:ext uri="{0D108BD9-81ED-4DB2-BD59-A6C34878D82A}">
                    <a16:rowId xmlns:a16="http://schemas.microsoft.com/office/drawing/2014/main" val="595866579"/>
                  </a:ext>
                </a:extLst>
              </a:tr>
              <a:tr h="993473">
                <a:tc>
                  <a:txBody>
                    <a:bodyPr/>
                    <a:lstStyle/>
                    <a:p>
                      <a:r>
                        <a:rPr lang="en-US" dirty="0"/>
                        <a:t>Triton-seq (shared memory hack)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 (</a:t>
                      </a:r>
                      <a:r>
                        <a:rPr lang="en-US" dirty="0">
                          <a:solidFill>
                            <a:srgbClr val="00B050"/>
                          </a:solidFill>
                        </a:rPr>
                        <a:t>-6%</a:t>
                      </a:r>
                      <a:r>
                        <a:rPr lang="en-US" dirty="0"/>
                        <a:t>)</a:t>
                      </a:r>
                    </a:p>
                  </a:txBody>
                  <a:tcPr/>
                </a:tc>
                <a:tc>
                  <a:txBody>
                    <a:bodyPr/>
                    <a:lstStyle/>
                    <a:p>
                      <a:r>
                        <a:rPr lang="en-US" dirty="0"/>
                        <a:t>6500 (</a:t>
                      </a:r>
                      <a:r>
                        <a:rPr lang="en-US" dirty="0">
                          <a:solidFill>
                            <a:srgbClr val="FF0000"/>
                          </a:solidFill>
                        </a:rPr>
                        <a:t>+16%</a:t>
                      </a:r>
                      <a:r>
                        <a:rPr lang="en-US" dirty="0"/>
                        <a:t>)</a:t>
                      </a:r>
                    </a:p>
                  </a:txBody>
                  <a:tcPr/>
                </a:tc>
                <a:extLst>
                  <a:ext uri="{0D108BD9-81ED-4DB2-BD59-A6C34878D82A}">
                    <a16:rowId xmlns:a16="http://schemas.microsoft.com/office/drawing/2014/main" val="3958822559"/>
                  </a:ext>
                </a:extLst>
              </a:tr>
            </a:tbl>
          </a:graphicData>
        </a:graphic>
      </p:graphicFrame>
    </p:spTree>
    <p:extLst>
      <p:ext uri="{BB962C8B-B14F-4D97-AF65-F5344CB8AC3E}">
        <p14:creationId xmlns:p14="http://schemas.microsoft.com/office/powerpoint/2010/main" val="381280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8ECCF2-1B91-275B-3849-BC1073C8CA83}"/>
              </a:ext>
            </a:extLst>
          </p:cNvPr>
          <p:cNvSpPr>
            <a:spLocks noGrp="1"/>
          </p:cNvSpPr>
          <p:nvPr>
            <p:ph type="sldNum" sz="quarter" idx="12"/>
          </p:nvPr>
        </p:nvSpPr>
        <p:spPr/>
        <p:txBody>
          <a:bodyPr/>
          <a:lstStyle/>
          <a:p>
            <a:fld id="{6200E4C3-34F6-DE45-A4C6-A49633FDBADA}" type="slidenum">
              <a:rPr lang="en-US" smtClean="0"/>
              <a:t>16</a:t>
            </a:fld>
            <a:endParaRPr lang="en-US"/>
          </a:p>
        </p:txBody>
      </p:sp>
      <p:sp>
        <p:nvSpPr>
          <p:cNvPr id="3" name="Content Placeholder 2">
            <a:extLst>
              <a:ext uri="{FF2B5EF4-FFF2-40B4-BE49-F238E27FC236}">
                <a16:creationId xmlns:a16="http://schemas.microsoft.com/office/drawing/2014/main" id="{68DE1719-C11A-3C80-C0D2-737A435FC694}"/>
              </a:ext>
            </a:extLst>
          </p:cNvPr>
          <p:cNvSpPr>
            <a:spLocks noGrp="1"/>
          </p:cNvSpPr>
          <p:nvPr>
            <p:ph idx="1"/>
          </p:nvPr>
        </p:nvSpPr>
        <p:spPr/>
        <p:txBody>
          <a:bodyPr/>
          <a:lstStyle/>
          <a:p>
            <a:r>
              <a:rPr lang="en-US" dirty="0"/>
              <a:t>Performance optimization of Triton kernel</a:t>
            </a:r>
          </a:p>
          <a:p>
            <a:pPr lvl="1"/>
            <a:r>
              <a:rPr lang="en-US" dirty="0"/>
              <a:t>Address the workload imbalance issue</a:t>
            </a:r>
          </a:p>
          <a:p>
            <a:r>
              <a:rPr lang="en-US" dirty="0"/>
              <a:t>Support other sequence alignment variants</a:t>
            </a:r>
          </a:p>
          <a:p>
            <a:pPr lvl="1"/>
            <a:r>
              <a:rPr lang="en-US" dirty="0"/>
              <a:t>And try to match SOTA kernel performance</a:t>
            </a:r>
          </a:p>
        </p:txBody>
      </p:sp>
      <p:sp>
        <p:nvSpPr>
          <p:cNvPr id="4" name="Title 3">
            <a:extLst>
              <a:ext uri="{FF2B5EF4-FFF2-40B4-BE49-F238E27FC236}">
                <a16:creationId xmlns:a16="http://schemas.microsoft.com/office/drawing/2014/main" id="{6BB98D57-4A68-5C44-5D55-094B0AF572B9}"/>
              </a:ext>
            </a:extLst>
          </p:cNvPr>
          <p:cNvSpPr>
            <a:spLocks noGrp="1"/>
          </p:cNvSpPr>
          <p:nvPr>
            <p:ph type="title"/>
          </p:nvPr>
        </p:nvSpPr>
        <p:spPr/>
        <p:txBody>
          <a:bodyPr/>
          <a:lstStyle/>
          <a:p>
            <a:r>
              <a:rPr lang="en-US" dirty="0"/>
              <a:t>Next steps</a:t>
            </a:r>
          </a:p>
        </p:txBody>
      </p:sp>
    </p:spTree>
    <p:extLst>
      <p:ext uri="{BB962C8B-B14F-4D97-AF65-F5344CB8AC3E}">
        <p14:creationId xmlns:p14="http://schemas.microsoft.com/office/powerpoint/2010/main" val="685423669"/>
      </p:ext>
    </p:extLst>
  </p:cSld>
  <p:clrMapOvr>
    <a:masterClrMapping/>
  </p:clrMapOvr>
</p:sld>
</file>

<file path=ppt/theme/theme1.xml><?xml version="1.0" encoding="utf-8"?>
<a:theme xmlns:a="http://schemas.openxmlformats.org/drawingml/2006/main" name="zhang-heterocl-030218">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nesis">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a:solidFill>
            <a:schemeClr val="tx1"/>
          </a:solidFill>
          <a:miter lim="800000"/>
        </a:ln>
        <a:effectLst/>
      </a:spPr>
      <a:bodyPr wrap="square" rtlCol="0" anchor="ctr">
        <a:spAutoFit/>
      </a:bodyPr>
      <a:lstStyle>
        <a:defPPr algn="ctr">
          <a:defRPr>
            <a:uFillTx/>
          </a:defRPr>
        </a:defPPr>
      </a:lstStyle>
      <a:style>
        <a:lnRef idx="1">
          <a:schemeClr val="accent1"/>
        </a:lnRef>
        <a:fillRef idx="1">
          <a:schemeClr val="accent1"/>
        </a:fillRef>
        <a:effectRef idx="1">
          <a:schemeClr val="accent1"/>
        </a:effectRef>
        <a:fontRef idx="minor">
          <a:schemeClr val="lt1"/>
        </a:fontRef>
      </a:style>
    </a:spDef>
    <a:lnDef>
      <a:spPr>
        <a:ln>
          <a:solidFill>
            <a:schemeClr val="tx1"/>
          </a:solidFill>
          <a:tailEnd type="non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smtClean="0">
            <a:uFillTx/>
            <a:latin typeface="Helvetica"/>
            <a:cs typeface="Helvetica"/>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1778</TotalTime>
  <Words>1461</Words>
  <Application>Microsoft Macintosh PowerPoint</Application>
  <PresentationFormat>Widescreen</PresentationFormat>
  <Paragraphs>191</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Andale Mono</vt:lpstr>
      <vt:lpstr>Aptos</vt:lpstr>
      <vt:lpstr>Arial</vt:lpstr>
      <vt:lpstr>Calibri</vt:lpstr>
      <vt:lpstr>Calisto MT</vt:lpstr>
      <vt:lpstr>Helvetica</vt:lpstr>
      <vt:lpstr>Palatino</vt:lpstr>
      <vt:lpstr>zhang-heterocl-030218</vt:lpstr>
      <vt:lpstr>GPU Accelerated Sequence Alignment with Triton</vt:lpstr>
      <vt:lpstr>Sequence Alignment is the Cornerstone of Bioinformatics</vt:lpstr>
      <vt:lpstr>Tasks Related to Sequence Alignment</vt:lpstr>
      <vt:lpstr>Each Aligner is a Pipeline</vt:lpstr>
      <vt:lpstr>Different DP Kernel Variants are Used</vt:lpstr>
      <vt:lpstr>Triton: write Python to get optimized GPU kernel for ML Ops</vt:lpstr>
      <vt:lpstr>Triton for Sequence Alignment Kernels?</vt:lpstr>
      <vt:lpstr>Guided DP: Extending Alignment in Minimap2</vt:lpstr>
      <vt:lpstr>GPU SOTA: AGATHA</vt:lpstr>
      <vt:lpstr>AGATHA: Challenges</vt:lpstr>
      <vt:lpstr>AGATHA: Optimization</vt:lpstr>
      <vt:lpstr>Triton kernel for guided DP</vt:lpstr>
      <vt:lpstr>Result: Performance &amp; Programming Effort</vt:lpstr>
      <vt:lpstr>Result: on a larger &amp; imbalanced dataset</vt:lpstr>
      <vt:lpstr>PTX hack to use shared memory instead of global memory</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Jiajie Li</dc:creator>
  <cp:lastModifiedBy>Jiajie Li</cp:lastModifiedBy>
  <cp:revision>92</cp:revision>
  <dcterms:created xsi:type="dcterms:W3CDTF">2025-10-08T16:23:55Z</dcterms:created>
  <dcterms:modified xsi:type="dcterms:W3CDTF">2025-10-22T17:35:24Z</dcterms:modified>
</cp:coreProperties>
</file>